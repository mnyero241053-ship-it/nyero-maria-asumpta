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64" r:id="rId18"/>
    <p:sldId id="26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1292" autoAdjust="0"/>
  </p:normalViewPr>
  <p:slideViewPr>
    <p:cSldViewPr snapToGrid="0">
      <p:cViewPr varScale="1">
        <p:scale>
          <a:sx n="66" d="100"/>
          <a:sy n="66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520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299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865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962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50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939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901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615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594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364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5943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6553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158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2168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172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5438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11119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614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5FC484A-814F-4F1E-93FD-3570F7FA6D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EE76DA5-785A-4413-992D-A100AC35F3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975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BF870-154F-6D84-53F9-E1EAB2FDA4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G" sz="3600" b="1" dirty="0"/>
              <a:t>IMPLEMENTATION OF OBJECT-ORIENTED NUMERICAL METHODS IN MATLAB FOR SOLVING DIFFERENTIAL AND INTEGRAL PROBLEMS</a:t>
            </a:r>
            <a:endParaRPr lang="en-GB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965336-3AD2-E6FC-B2B5-7803A2AC9F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Presented to: Mr. Maseruka Benedicto</a:t>
            </a:r>
          </a:p>
          <a:p>
            <a:r>
              <a:rPr lang="en-GB" dirty="0"/>
              <a:t>Computer Programming Course</a:t>
            </a:r>
          </a:p>
          <a:p>
            <a:r>
              <a:rPr lang="en-GB" b="1" dirty="0"/>
              <a:t>By Group 7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8575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FEDD9-693E-4946-4332-3603519D2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7 MEMBERS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F99BFB-D037-1BB2-7F50-8A701ECA71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0980662"/>
              </p:ext>
            </p:extLst>
          </p:nvPr>
        </p:nvGraphicFramePr>
        <p:xfrm>
          <a:off x="1044678" y="2089125"/>
          <a:ext cx="8404122" cy="4178300"/>
        </p:xfrm>
        <a:graphic>
          <a:graphicData uri="http://schemas.openxmlformats.org/drawingml/2006/table">
            <a:tbl>
              <a:tblPr/>
              <a:tblGrid>
                <a:gridCol w="528483">
                  <a:extLst>
                    <a:ext uri="{9D8B030D-6E8A-4147-A177-3AD203B41FA5}">
                      <a16:colId xmlns:a16="http://schemas.microsoft.com/office/drawing/2014/main" val="734729296"/>
                    </a:ext>
                  </a:extLst>
                </a:gridCol>
                <a:gridCol w="3628104">
                  <a:extLst>
                    <a:ext uri="{9D8B030D-6E8A-4147-A177-3AD203B41FA5}">
                      <a16:colId xmlns:a16="http://schemas.microsoft.com/office/drawing/2014/main" val="879879908"/>
                    </a:ext>
                  </a:extLst>
                </a:gridCol>
                <a:gridCol w="2703870">
                  <a:extLst>
                    <a:ext uri="{9D8B030D-6E8A-4147-A177-3AD203B41FA5}">
                      <a16:colId xmlns:a16="http://schemas.microsoft.com/office/drawing/2014/main" val="2230730195"/>
                    </a:ext>
                  </a:extLst>
                </a:gridCol>
                <a:gridCol w="1543665">
                  <a:extLst>
                    <a:ext uri="{9D8B030D-6E8A-4147-A177-3AD203B41FA5}">
                      <a16:colId xmlns:a16="http://schemas.microsoft.com/office/drawing/2014/main" val="629974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b="0" dirty="0">
                          <a:effectLst/>
                          <a:latin typeface="quote-cjk-patch"/>
                        </a:rPr>
                        <a:t>NO.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b="0" dirty="0">
                          <a:effectLst/>
                          <a:latin typeface="quote-cjk-patch"/>
                        </a:rPr>
                        <a:t>NAME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b="0" dirty="0">
                          <a:effectLst/>
                          <a:latin typeface="quote-cjk-patch"/>
                        </a:rPr>
                        <a:t>REG. NUMBER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PROGRAM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116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 dirty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SSEBAKIJJE HOSEA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BU/UP/2024/0847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AMI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062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 dirty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ETYANG JONATHAN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BU/UG/2024/2671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APE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237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 dirty="0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KOBUSINGYE BETHLINE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BU/UG/2024/2602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PTI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1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GUDOI ALLAN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 dirty="0">
                          <a:effectLst/>
                          <a:latin typeface="quote-cjk-patch"/>
                        </a:rPr>
                        <a:t>BU/UP/2024/4449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 dirty="0">
                          <a:effectLst/>
                          <a:latin typeface="quote-cjk-patch"/>
                        </a:rPr>
                        <a:t>WAR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651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NYERO MARIA ASUMPTA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BU/UP/2024/1053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WAR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657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KAKURU OBADIAH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BU/UP/2024/1029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WAR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966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7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SEMBERA SHERINA TAPINESS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BU/UP/2024/5349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MEB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466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ADIPO HOPE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BU/UP/2024/0980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MEB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641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9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ESARAIT BRIAN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BU/UP/2024/5343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 dirty="0">
                          <a:effectLst/>
                          <a:latin typeface="quote-cjk-patch"/>
                        </a:rPr>
                        <a:t>MEB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917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468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221F6-971B-5CC7-7112-1CFDF27FC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MATLAB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A9DA9-3231-5672-0090-DD8F1E4A9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 </a:t>
            </a:r>
          </a:p>
          <a:p>
            <a:r>
              <a:rPr lang="en-GB" b="1" dirty="0"/>
              <a:t>MATLAB</a:t>
            </a:r>
            <a:r>
              <a:rPr lang="en-GB" dirty="0"/>
              <a:t> = Matrix Laboratory.</a:t>
            </a:r>
          </a:p>
          <a:p>
            <a:r>
              <a:rPr lang="en-GB" dirty="0"/>
              <a:t>A high-performance language for technical computing.</a:t>
            </a:r>
          </a:p>
          <a:p>
            <a:r>
              <a:rPr lang="en-GB" b="1" dirty="0"/>
              <a:t>Origin:</a:t>
            </a:r>
            <a:r>
              <a:rPr lang="en-GB" dirty="0"/>
              <a:t> Late 1970s by Cleve Moler.</a:t>
            </a:r>
          </a:p>
          <a:p>
            <a:r>
              <a:rPr lang="en-GB" b="1" dirty="0"/>
              <a:t>Purpose:</a:t>
            </a:r>
            <a:r>
              <a:rPr lang="en-GB" dirty="0"/>
              <a:t> To provide easy access to matrix operations without needing Fortran.</a:t>
            </a:r>
          </a:p>
          <a:p>
            <a:r>
              <a:rPr lang="en-GB" b="1" dirty="0"/>
              <a:t>Evolution:</a:t>
            </a:r>
            <a:r>
              <a:rPr lang="en-GB" dirty="0"/>
              <a:t> From a simple calculator to a commercial product (1984) with toolboxes, Simulink, and Live Editor.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1285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A622B-72DE-8D14-3620-FDAE51C33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GB" b="1" dirty="0"/>
            </a:br>
            <a:r>
              <a:rPr lang="en-US" b="1" dirty="0"/>
              <a:t>ASSIGNMENT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8BB0B-A50C-EAA8-0E2F-91BCEFE5B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While implementing the concepts of classes, encapsulations, inheritance, polymorphism and abstraction</a:t>
            </a:r>
            <a:endParaRPr lang="en-UG" dirty="0"/>
          </a:p>
          <a:p>
            <a:r>
              <a:rPr lang="en-US" dirty="0"/>
              <a:t>‎a. Develop and test a high end or level back-end implementation of a numerical methods application for solving computational problems for simplicity apply the code developed in the previous assignment and ensure the current class holds all abstract methods with 2 sub classes, one for differential problems and the other integral problem</a:t>
            </a:r>
            <a:endParaRPr lang="en-UG" dirty="0"/>
          </a:p>
          <a:p>
            <a:pPr marL="0" indent="0">
              <a:buNone/>
            </a:pP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8476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A6DEB2-FF84-D386-C63E-91BBD29C634C}"/>
              </a:ext>
            </a:extLst>
          </p:cNvPr>
          <p:cNvSpPr txBox="1"/>
          <p:nvPr/>
        </p:nvSpPr>
        <p:spPr>
          <a:xfrm>
            <a:off x="206477" y="226141"/>
            <a:ext cx="1162173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</a:t>
            </a:r>
            <a:r>
              <a:rPr lang="en-GB" b="1" dirty="0"/>
              <a:t> SUPERCLASS FOR NUMERICAL METHODS (CODE)</a:t>
            </a:r>
            <a:endParaRPr lang="en-UG" b="1" dirty="0"/>
          </a:p>
          <a:p>
            <a:r>
              <a:rPr lang="en-US" dirty="0" err="1"/>
              <a:t>classdef</a:t>
            </a:r>
            <a:r>
              <a:rPr lang="en-US" dirty="0"/>
              <a:t> (Abstract) </a:t>
            </a:r>
            <a:r>
              <a:rPr lang="en-US" dirty="0" err="1"/>
              <a:t>NumericalMethod</a:t>
            </a:r>
            <a:endParaRPr lang="en-UG" dirty="0"/>
          </a:p>
          <a:p>
            <a:r>
              <a:rPr lang="en-US" dirty="0"/>
              <a:t>    % Abstract class for Numerical Methods</a:t>
            </a:r>
            <a:endParaRPr lang="en-UG" dirty="0"/>
          </a:p>
          <a:p>
            <a:r>
              <a:rPr lang="en-US" dirty="0"/>
              <a:t>    % Defines the structure (abstraction) for all numerical solvers</a:t>
            </a:r>
            <a:endParaRPr lang="en-UG" dirty="0"/>
          </a:p>
          <a:p>
            <a:r>
              <a:rPr lang="en-US" dirty="0"/>
              <a:t> </a:t>
            </a:r>
            <a:endParaRPr lang="en-UG" dirty="0"/>
          </a:p>
          <a:p>
            <a:r>
              <a:rPr lang="en-US" dirty="0"/>
              <a:t>    properties (Access = protected)</a:t>
            </a:r>
            <a:endParaRPr lang="en-UG" dirty="0"/>
          </a:p>
          <a:p>
            <a:r>
              <a:rPr lang="en-US" dirty="0"/>
              <a:t>        </a:t>
            </a:r>
            <a:r>
              <a:rPr lang="en-US" dirty="0" err="1"/>
              <a:t>tol</a:t>
            </a:r>
            <a:r>
              <a:rPr lang="en-US" dirty="0"/>
              <a:t>       % Tolerance for convergence</a:t>
            </a:r>
            <a:endParaRPr lang="en-UG" dirty="0"/>
          </a:p>
          <a:p>
            <a:r>
              <a:rPr lang="en-US" dirty="0"/>
              <a:t>        </a:t>
            </a:r>
            <a:r>
              <a:rPr lang="en-US" dirty="0" err="1"/>
              <a:t>max_iter</a:t>
            </a:r>
            <a:r>
              <a:rPr lang="en-US" dirty="0"/>
              <a:t>  % Maximum number of iterations</a:t>
            </a:r>
            <a:endParaRPr lang="en-UG" dirty="0"/>
          </a:p>
          <a:p>
            <a:r>
              <a:rPr lang="en-US" dirty="0"/>
              <a:t>    end</a:t>
            </a:r>
            <a:endParaRPr lang="en-UG" dirty="0"/>
          </a:p>
          <a:p>
            <a:r>
              <a:rPr lang="en-US" dirty="0"/>
              <a:t> </a:t>
            </a:r>
            <a:endParaRPr lang="en-UG" dirty="0"/>
          </a:p>
          <a:p>
            <a:r>
              <a:rPr lang="en-US" dirty="0"/>
              <a:t>    methods</a:t>
            </a:r>
            <a:endParaRPr lang="en-UG" dirty="0"/>
          </a:p>
          <a:p>
            <a:r>
              <a:rPr lang="en-US" dirty="0"/>
              <a:t>        function obj = </a:t>
            </a:r>
            <a:r>
              <a:rPr lang="en-US" dirty="0" err="1"/>
              <a:t>NumericalMethod</a:t>
            </a:r>
            <a:r>
              <a:rPr lang="en-US" dirty="0"/>
              <a:t>(</a:t>
            </a:r>
            <a:r>
              <a:rPr lang="en-US" dirty="0" err="1"/>
              <a:t>tol</a:t>
            </a:r>
            <a:r>
              <a:rPr lang="en-US" dirty="0"/>
              <a:t>, </a:t>
            </a:r>
            <a:r>
              <a:rPr lang="en-US" dirty="0" err="1"/>
              <a:t>max_iter</a:t>
            </a:r>
            <a:r>
              <a:rPr lang="en-US" dirty="0"/>
              <a:t>)</a:t>
            </a:r>
            <a:endParaRPr lang="en-UG" dirty="0"/>
          </a:p>
          <a:p>
            <a:r>
              <a:rPr lang="en-US" dirty="0"/>
              <a:t>            % Constructor for base class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obj.tol</a:t>
            </a:r>
            <a:r>
              <a:rPr lang="en-US" dirty="0"/>
              <a:t> = </a:t>
            </a:r>
            <a:r>
              <a:rPr lang="en-US" dirty="0" err="1"/>
              <a:t>tol</a:t>
            </a:r>
            <a:r>
              <a:rPr lang="en-US" dirty="0"/>
              <a:t>;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obj.max_iter</a:t>
            </a:r>
            <a:r>
              <a:rPr lang="en-US" dirty="0"/>
              <a:t> = </a:t>
            </a:r>
            <a:r>
              <a:rPr lang="en-US" dirty="0" err="1"/>
              <a:t>max_iter</a:t>
            </a:r>
            <a:r>
              <a:rPr lang="en-US" dirty="0"/>
              <a:t>;</a:t>
            </a:r>
            <a:endParaRPr lang="en-UG" dirty="0"/>
          </a:p>
          <a:p>
            <a:r>
              <a:rPr lang="en-US" dirty="0"/>
              <a:t>        end</a:t>
            </a:r>
            <a:endParaRPr lang="en-UG" dirty="0"/>
          </a:p>
          <a:p>
            <a:r>
              <a:rPr lang="en-US" dirty="0"/>
              <a:t>    end</a:t>
            </a:r>
            <a:endParaRPr lang="en-UG" dirty="0"/>
          </a:p>
          <a:p>
            <a:r>
              <a:rPr lang="en-US" dirty="0"/>
              <a:t> </a:t>
            </a:r>
            <a:endParaRPr lang="en-UG" dirty="0"/>
          </a:p>
          <a:p>
            <a:r>
              <a:rPr lang="en-US" dirty="0"/>
              <a:t>    % Abstract methods that must be implemented in subclasses</a:t>
            </a:r>
            <a:endParaRPr lang="en-UG" dirty="0"/>
          </a:p>
          <a:p>
            <a:r>
              <a:rPr lang="en-US" dirty="0"/>
              <a:t>    methods (Abstract)</a:t>
            </a:r>
            <a:endParaRPr lang="en-UG" dirty="0"/>
          </a:p>
          <a:p>
            <a:r>
              <a:rPr lang="en-US" dirty="0"/>
              <a:t>        result = solve(obj)</a:t>
            </a:r>
            <a:endParaRPr lang="en-UG" dirty="0"/>
          </a:p>
          <a:p>
            <a:r>
              <a:rPr lang="en-US" dirty="0"/>
              <a:t>        verify(obj, result)</a:t>
            </a:r>
            <a:endParaRPr lang="en-UG" dirty="0"/>
          </a:p>
          <a:p>
            <a:r>
              <a:rPr lang="en-US" dirty="0"/>
              <a:t>    end</a:t>
            </a:r>
            <a:endParaRPr lang="en-UG" dirty="0"/>
          </a:p>
          <a:p>
            <a:r>
              <a:rPr lang="en-US" dirty="0"/>
              <a:t>end</a:t>
            </a:r>
            <a:endParaRPr lang="en-UG" dirty="0"/>
          </a:p>
          <a:p>
            <a:endParaRPr lang="en-GB" sz="2800" b="1" kern="1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274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0486AE-C737-FA6B-ACF5-94467F8C3158}"/>
              </a:ext>
            </a:extLst>
          </p:cNvPr>
          <p:cNvSpPr txBox="1"/>
          <p:nvPr/>
        </p:nvSpPr>
        <p:spPr>
          <a:xfrm>
            <a:off x="147484" y="275303"/>
            <a:ext cx="1187736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EXPLANATION OF THE NUMERICAL METHOD</a:t>
            </a:r>
          </a:p>
          <a:p>
            <a:r>
              <a:rPr lang="en-US" b="1" dirty="0"/>
              <a:t>Class Definition:</a:t>
            </a:r>
            <a:br>
              <a:rPr lang="en-US" dirty="0"/>
            </a:br>
            <a:r>
              <a:rPr lang="en-US" dirty="0" err="1"/>
              <a:t>NumericalMethod</a:t>
            </a:r>
            <a:r>
              <a:rPr lang="en-US" dirty="0"/>
              <a:t> is an abstract base class that defines the general structure for all numerical methods in MATLAB. It cannot be instantiated directly but serves as a blueprint for subclasses.</a:t>
            </a:r>
          </a:p>
          <a:p>
            <a:r>
              <a:rPr lang="en-US" b="1" dirty="0"/>
              <a:t>Protected Properties:</a:t>
            </a:r>
            <a:endParaRPr lang="en-US" dirty="0"/>
          </a:p>
          <a:p>
            <a:pPr lvl="1"/>
            <a:r>
              <a:rPr lang="en-US" dirty="0" err="1"/>
              <a:t>tol</a:t>
            </a:r>
            <a:r>
              <a:rPr lang="en-US" dirty="0"/>
              <a:t> – Sets the tolerance for convergence.</a:t>
            </a:r>
          </a:p>
          <a:p>
            <a:pPr lvl="1"/>
            <a:r>
              <a:rPr lang="en-US" dirty="0" err="1"/>
              <a:t>max_iter</a:t>
            </a:r>
            <a:r>
              <a:rPr lang="en-US" dirty="0"/>
              <a:t> – Defines the maximum number of iterations.</a:t>
            </a:r>
          </a:p>
          <a:p>
            <a:r>
              <a:rPr lang="en-US" b="1" dirty="0"/>
              <a:t>Constructor:</a:t>
            </a:r>
            <a:br>
              <a:rPr lang="en-US" dirty="0"/>
            </a:br>
            <a:r>
              <a:rPr lang="en-US" dirty="0"/>
              <a:t>Initializes </a:t>
            </a:r>
            <a:r>
              <a:rPr lang="en-US" dirty="0" err="1"/>
              <a:t>tol</a:t>
            </a:r>
            <a:r>
              <a:rPr lang="en-US" dirty="0"/>
              <a:t> and </a:t>
            </a:r>
            <a:r>
              <a:rPr lang="en-US" dirty="0" err="1"/>
              <a:t>max_iter</a:t>
            </a:r>
            <a:r>
              <a:rPr lang="en-US" dirty="0"/>
              <a:t> and ensures consistency across all subclasses using inheritance.</a:t>
            </a:r>
          </a:p>
          <a:p>
            <a:r>
              <a:rPr lang="en-US" b="1" dirty="0"/>
              <a:t>Abstract Methods:</a:t>
            </a:r>
            <a:endParaRPr lang="en-US" dirty="0"/>
          </a:p>
          <a:p>
            <a:pPr lvl="1"/>
            <a:r>
              <a:rPr lang="en-US" dirty="0"/>
              <a:t>solve(obj) – Performs the computation.</a:t>
            </a:r>
          </a:p>
          <a:p>
            <a:pPr lvl="1"/>
            <a:r>
              <a:rPr lang="en-US" dirty="0"/>
              <a:t>verify(obj, result) – Validates the solution.</a:t>
            </a:r>
            <a:br>
              <a:rPr lang="en-US" dirty="0"/>
            </a:br>
            <a:r>
              <a:rPr lang="en-US" dirty="0"/>
              <a:t>These must be implemented by all subclasses.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Promotes </a:t>
            </a:r>
            <a:r>
              <a:rPr lang="en-US" b="1" dirty="0"/>
              <a:t>consistency, reusability, and clarity</a:t>
            </a:r>
            <a:r>
              <a:rPr lang="en-US" dirty="0"/>
              <a:t> in object-oriented numerical programming.</a:t>
            </a:r>
          </a:p>
          <a:p>
            <a:r>
              <a:rPr lang="en-US" b="1" dirty="0"/>
              <a:t>Subclass Examples:</a:t>
            </a:r>
            <a:endParaRPr lang="en-US" dirty="0"/>
          </a:p>
          <a:p>
            <a:pPr lvl="1"/>
            <a:r>
              <a:rPr lang="en-US" dirty="0" err="1"/>
              <a:t>DifferentialSolver</a:t>
            </a:r>
            <a:r>
              <a:rPr lang="en-US" dirty="0"/>
              <a:t> – Solves equations using </a:t>
            </a:r>
            <a:r>
              <a:rPr lang="en-US" b="1" dirty="0"/>
              <a:t>Newton–Raphson</a:t>
            </a:r>
            <a:r>
              <a:rPr lang="en-US" dirty="0"/>
              <a:t> and </a:t>
            </a:r>
            <a:r>
              <a:rPr lang="en-US" b="1" dirty="0"/>
              <a:t>Secant</a:t>
            </a:r>
            <a:r>
              <a:rPr lang="en-US" dirty="0"/>
              <a:t> methods.</a:t>
            </a:r>
          </a:p>
          <a:p>
            <a:pPr lvl="1"/>
            <a:r>
              <a:rPr lang="en-US" dirty="0" err="1"/>
              <a:t>IntegralSolver</a:t>
            </a:r>
            <a:r>
              <a:rPr lang="en-US" dirty="0"/>
              <a:t> – Performs integration using the </a:t>
            </a:r>
            <a:r>
              <a:rPr lang="en-US" b="1" dirty="0"/>
              <a:t>Trapezoidal Rule</a:t>
            </a:r>
            <a:r>
              <a:rPr lang="en-US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1121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EC74A8-1F94-D0A2-76DF-33B8975357AA}"/>
              </a:ext>
            </a:extLst>
          </p:cNvPr>
          <p:cNvSpPr txBox="1"/>
          <p:nvPr/>
        </p:nvSpPr>
        <p:spPr>
          <a:xfrm>
            <a:off x="196645" y="304800"/>
            <a:ext cx="11857703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 SUB-CLASS FOR DIFFERENTIAL PROBLEMS/DIFFERENTIAL SOLVER</a:t>
            </a:r>
            <a:endParaRPr lang="en-UG" b="1" dirty="0"/>
          </a:p>
          <a:p>
            <a:r>
              <a:rPr lang="en-GB" b="1" dirty="0"/>
              <a:t> CODE</a:t>
            </a:r>
            <a:endParaRPr lang="en-UG" dirty="0"/>
          </a:p>
          <a:p>
            <a:r>
              <a:rPr lang="en-US" dirty="0" err="1"/>
              <a:t>classdef</a:t>
            </a:r>
            <a:r>
              <a:rPr lang="en-US" dirty="0"/>
              <a:t> </a:t>
            </a:r>
            <a:r>
              <a:rPr lang="en-US" dirty="0" err="1"/>
              <a:t>DifferentialSolver</a:t>
            </a:r>
            <a:r>
              <a:rPr lang="en-US" dirty="0"/>
              <a:t> &lt; </a:t>
            </a:r>
            <a:r>
              <a:rPr lang="en-US" dirty="0" err="1"/>
              <a:t>NumericalMethod</a:t>
            </a:r>
            <a:endParaRPr lang="en-UG" dirty="0"/>
          </a:p>
          <a:p>
            <a:r>
              <a:rPr lang="en-US" dirty="0"/>
              <a:t>    % Subclass handling differential (root-finding) problems</a:t>
            </a:r>
            <a:endParaRPr lang="en-UG" dirty="0"/>
          </a:p>
          <a:p>
            <a:r>
              <a:rPr lang="en-US" dirty="0"/>
              <a:t> </a:t>
            </a:r>
            <a:endParaRPr lang="en-UG" dirty="0"/>
          </a:p>
          <a:p>
            <a:r>
              <a:rPr lang="en-US" dirty="0"/>
              <a:t>    properties (Access = private)</a:t>
            </a:r>
            <a:endParaRPr lang="en-UG" dirty="0"/>
          </a:p>
          <a:p>
            <a:r>
              <a:rPr lang="en-US" dirty="0"/>
              <a:t>        equation % Function handle for the main equation</a:t>
            </a:r>
            <a:endParaRPr lang="en-UG" dirty="0"/>
          </a:p>
          <a:p>
            <a:r>
              <a:rPr lang="en-US" dirty="0"/>
              <a:t>        derivative % Derivative of the function</a:t>
            </a:r>
            <a:endParaRPr lang="en-UG" dirty="0"/>
          </a:p>
          <a:p>
            <a:r>
              <a:rPr lang="en-US" dirty="0"/>
              <a:t>    end</a:t>
            </a:r>
            <a:endParaRPr lang="en-UG" dirty="0"/>
          </a:p>
          <a:p>
            <a:r>
              <a:rPr lang="en-US" dirty="0"/>
              <a:t> </a:t>
            </a:r>
            <a:endParaRPr lang="en-UG" dirty="0"/>
          </a:p>
          <a:p>
            <a:r>
              <a:rPr lang="en-US" dirty="0"/>
              <a:t>    methods</a:t>
            </a:r>
            <a:endParaRPr lang="en-UG" dirty="0"/>
          </a:p>
          <a:p>
            <a:r>
              <a:rPr lang="en-US" dirty="0"/>
              <a:t>        function obj = </a:t>
            </a:r>
            <a:r>
              <a:rPr lang="en-US" dirty="0" err="1"/>
              <a:t>DifferentialSolver</a:t>
            </a:r>
            <a:r>
              <a:rPr lang="en-US" dirty="0"/>
              <a:t>(</a:t>
            </a:r>
            <a:r>
              <a:rPr lang="en-US" dirty="0" err="1"/>
              <a:t>tol</a:t>
            </a:r>
            <a:r>
              <a:rPr lang="en-US" dirty="0"/>
              <a:t>, </a:t>
            </a:r>
            <a:r>
              <a:rPr lang="en-US" dirty="0" err="1"/>
              <a:t>max_iter</a:t>
            </a:r>
            <a:r>
              <a:rPr lang="en-US" dirty="0"/>
              <a:t>)</a:t>
            </a:r>
            <a:endParaRPr lang="en-UG" dirty="0"/>
          </a:p>
          <a:p>
            <a:r>
              <a:rPr lang="en-US" dirty="0"/>
              <a:t>            % Call superclass constructor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obj@NumericalMethod</a:t>
            </a:r>
            <a:r>
              <a:rPr lang="en-US" dirty="0"/>
              <a:t>(</a:t>
            </a:r>
            <a:r>
              <a:rPr lang="en-US" dirty="0" err="1"/>
              <a:t>tol</a:t>
            </a:r>
            <a:r>
              <a:rPr lang="en-US" dirty="0"/>
              <a:t>, </a:t>
            </a:r>
            <a:r>
              <a:rPr lang="en-US" dirty="0" err="1"/>
              <a:t>max_iter</a:t>
            </a:r>
            <a:r>
              <a:rPr lang="en-US" dirty="0"/>
              <a:t>);</a:t>
            </a:r>
            <a:endParaRPr lang="en-UG" dirty="0"/>
          </a:p>
          <a:p>
            <a:r>
              <a:rPr lang="en-US" dirty="0"/>
              <a:t>            % Define function and derivative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obj.equation</a:t>
            </a:r>
            <a:r>
              <a:rPr lang="en-US" dirty="0"/>
              <a:t> = @(x) x^3 - x - 3;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obj.derivative</a:t>
            </a:r>
            <a:r>
              <a:rPr lang="en-US" dirty="0"/>
              <a:t> = @(x) 3*x^2 - 1;</a:t>
            </a:r>
            <a:endParaRPr lang="en-UG" dirty="0"/>
          </a:p>
          <a:p>
            <a:r>
              <a:rPr lang="en-US" dirty="0"/>
              <a:t>        end</a:t>
            </a:r>
            <a:endParaRPr lang="en-UG" dirty="0"/>
          </a:p>
          <a:p>
            <a:r>
              <a:rPr lang="en-US" dirty="0"/>
              <a:t> </a:t>
            </a:r>
            <a:endParaRPr lang="en-UG" dirty="0"/>
          </a:p>
          <a:p>
            <a:r>
              <a:rPr lang="en-US" dirty="0"/>
              <a:t>        function result = solve(obj)</a:t>
            </a:r>
            <a:endParaRPr lang="en-UG" dirty="0"/>
          </a:p>
          <a:p>
            <a:r>
              <a:rPr lang="en-US" dirty="0"/>
              <a:t>            % Solves using both Newton-Raphson and Secant methods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fprintf</a:t>
            </a:r>
            <a:r>
              <a:rPr lang="en-US" dirty="0"/>
              <a:t>('=== Differential Problem Solver ===\n');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fprintf</a:t>
            </a:r>
            <a:r>
              <a:rPr lang="en-US" dirty="0"/>
              <a:t>('Solving: x^3 - x - 3 = 0\n\n');</a:t>
            </a:r>
            <a:endParaRPr lang="en-UG" dirty="0"/>
          </a:p>
          <a:p>
            <a:r>
              <a:rPr lang="en-US" dirty="0"/>
              <a:t> </a:t>
            </a:r>
            <a:endParaRPr lang="en-UG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0074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17CF4B-F48E-FB89-E4D6-FAC091C2C9EE}"/>
              </a:ext>
            </a:extLst>
          </p:cNvPr>
          <p:cNvSpPr txBox="1"/>
          <p:nvPr/>
        </p:nvSpPr>
        <p:spPr>
          <a:xfrm>
            <a:off x="186813" y="373626"/>
            <a:ext cx="1177904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% Newton-Raphson</a:t>
            </a:r>
            <a:endParaRPr lang="en-UG"/>
          </a:p>
          <a:p>
            <a:r>
              <a:rPr lang="en-US"/>
              <a:t>            fprintf('1. NEWTON-RAPHSON METHOD\n');</a:t>
            </a:r>
            <a:endParaRPr lang="en-UG"/>
          </a:p>
          <a:p>
            <a:r>
              <a:rPr lang="en-US"/>
              <a:t>            root_newton = obj.newton_recursive(1.5, 1);</a:t>
            </a:r>
            <a:endParaRPr lang="en-UG"/>
          </a:p>
          <a:p>
            <a:r>
              <a:rPr lang="en-US"/>
              <a:t>            fprintf('   Root: %.8f\n', root_newton);</a:t>
            </a:r>
            <a:endParaRPr lang="en-UG"/>
          </a:p>
          <a:p>
            <a:r>
              <a:rPr lang="en-US"/>
              <a:t> </a:t>
            </a:r>
            <a:endParaRPr lang="en-UG"/>
          </a:p>
          <a:p>
            <a:r>
              <a:rPr lang="en-US"/>
              <a:t>            % Secant</a:t>
            </a:r>
            <a:endParaRPr lang="en-UG"/>
          </a:p>
          <a:p>
            <a:r>
              <a:rPr lang="en-US"/>
              <a:t>            fprintf('\n2. SECANT METHOD\n');</a:t>
            </a:r>
            <a:endParaRPr lang="en-UG"/>
          </a:p>
          <a:p>
            <a:r>
              <a:rPr lang="en-US"/>
              <a:t>            root_secant = obj.secant_recursive(1.0, 2.0, 1);</a:t>
            </a:r>
            <a:endParaRPr lang="en-UG"/>
          </a:p>
          <a:p>
            <a:r>
              <a:rPr lang="en-US"/>
              <a:t>            fprintf('   Root: %.8f\n', root_secant);</a:t>
            </a:r>
            <a:endParaRPr lang="en-UG"/>
          </a:p>
          <a:p>
            <a:r>
              <a:rPr lang="en-US"/>
              <a:t> </a:t>
            </a:r>
            <a:endParaRPr lang="en-UG"/>
          </a:p>
          <a:p>
            <a:r>
              <a:rPr lang="en-US"/>
              <a:t>            result = struct('Newton', root_newton, 'Secant', root_secant);</a:t>
            </a:r>
            <a:endParaRPr lang="en-UG"/>
          </a:p>
          <a:p>
            <a:r>
              <a:rPr lang="en-US"/>
              <a:t>        end</a:t>
            </a:r>
            <a:endParaRPr lang="en-UG"/>
          </a:p>
          <a:p>
            <a:r>
              <a:rPr lang="en-US"/>
              <a:t> </a:t>
            </a:r>
            <a:endParaRPr lang="en-UG"/>
          </a:p>
          <a:p>
            <a:r>
              <a:rPr lang="en-US"/>
              <a:t>        function verify(obj, result)</a:t>
            </a:r>
            <a:endParaRPr lang="en-UG"/>
          </a:p>
          <a:p>
            <a:r>
              <a:rPr lang="en-US"/>
              <a:t>            % Verifies both results</a:t>
            </a:r>
            <a:endParaRPr lang="en-UG"/>
          </a:p>
          <a:p>
            <a:r>
              <a:rPr lang="en-US"/>
              <a:t>            fprintf('\n=== VERIFICATION ===\n');</a:t>
            </a:r>
            <a:endParaRPr lang="en-UG"/>
          </a:p>
          <a:p>
            <a:r>
              <a:rPr lang="en-US"/>
              <a:t>            obj.verify_solution(result.Newton, 'Newton-Raphson');</a:t>
            </a:r>
            <a:endParaRPr lang="en-UG"/>
          </a:p>
          <a:p>
            <a:r>
              <a:rPr lang="en-US"/>
              <a:t>            obj.verify_solution(result.Secant, 'Secant');</a:t>
            </a:r>
            <a:endParaRPr lang="en-UG"/>
          </a:p>
          <a:p>
            <a:r>
              <a:rPr lang="en-US"/>
              <a:t>        end</a:t>
            </a:r>
            <a:endParaRPr lang="en-UG"/>
          </a:p>
          <a:p>
            <a:r>
              <a:rPr lang="en-US"/>
              <a:t>    end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7763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3E56D3-92BD-F8F3-37C5-3D9B2F5601AC}"/>
              </a:ext>
            </a:extLst>
          </p:cNvPr>
          <p:cNvSpPr txBox="1"/>
          <p:nvPr/>
        </p:nvSpPr>
        <p:spPr>
          <a:xfrm>
            <a:off x="117987" y="216310"/>
            <a:ext cx="117593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% Encapsulated (private) methods for internal use only</a:t>
            </a:r>
            <a:endParaRPr lang="en-UG" dirty="0"/>
          </a:p>
          <a:p>
            <a:r>
              <a:rPr lang="en-US" dirty="0"/>
              <a:t>    methods (Access = private)</a:t>
            </a:r>
            <a:endParaRPr lang="en-UG" dirty="0"/>
          </a:p>
          <a:p>
            <a:r>
              <a:rPr lang="en-US" dirty="0"/>
              <a:t>        function root = </a:t>
            </a:r>
            <a:r>
              <a:rPr lang="en-US" dirty="0" err="1"/>
              <a:t>newton_recursive</a:t>
            </a:r>
            <a:r>
              <a:rPr lang="en-US" dirty="0"/>
              <a:t>(obj, x, iter)</a:t>
            </a:r>
            <a:endParaRPr lang="en-UG" dirty="0"/>
          </a:p>
          <a:p>
            <a:r>
              <a:rPr lang="en-US" dirty="0"/>
              <a:t>            if iter &gt; </a:t>
            </a:r>
            <a:r>
              <a:rPr lang="en-US" dirty="0" err="1"/>
              <a:t>obj.max_iter</a:t>
            </a:r>
            <a:endParaRPr lang="en-UG" dirty="0"/>
          </a:p>
          <a:p>
            <a:r>
              <a:rPr lang="en-US" dirty="0"/>
              <a:t>                error('Newton: Maximum iterations reached');</a:t>
            </a:r>
            <a:endParaRPr lang="en-UG" dirty="0"/>
          </a:p>
          <a:p>
            <a:r>
              <a:rPr lang="en-US" dirty="0"/>
              <a:t>            end</a:t>
            </a:r>
            <a:endParaRPr lang="en-UG" dirty="0"/>
          </a:p>
          <a:p>
            <a:r>
              <a:rPr lang="en-US" dirty="0"/>
              <a:t>            f = </a:t>
            </a:r>
            <a:r>
              <a:rPr lang="en-US" dirty="0" err="1"/>
              <a:t>obj.equation</a:t>
            </a:r>
            <a:r>
              <a:rPr lang="en-US" dirty="0"/>
              <a:t>(x);</a:t>
            </a:r>
            <a:endParaRPr lang="en-UG" dirty="0"/>
          </a:p>
          <a:p>
            <a:r>
              <a:rPr lang="en-US" dirty="0"/>
              <a:t>            if abs(f) &lt; </a:t>
            </a:r>
            <a:r>
              <a:rPr lang="en-US" dirty="0" err="1"/>
              <a:t>obj.tol</a:t>
            </a:r>
            <a:endParaRPr lang="en-UG" dirty="0"/>
          </a:p>
          <a:p>
            <a:r>
              <a:rPr lang="en-US" dirty="0"/>
              <a:t>                </a:t>
            </a:r>
            <a:r>
              <a:rPr lang="en-US" dirty="0" err="1"/>
              <a:t>fprintf</a:t>
            </a:r>
            <a:r>
              <a:rPr lang="en-US" dirty="0"/>
              <a:t>('   Converged in %d iterations\n', iter);</a:t>
            </a:r>
            <a:endParaRPr lang="en-UG" dirty="0"/>
          </a:p>
          <a:p>
            <a:r>
              <a:rPr lang="en-US" dirty="0"/>
              <a:t>                root = x;</a:t>
            </a:r>
            <a:endParaRPr lang="en-UG" dirty="0"/>
          </a:p>
          <a:p>
            <a:r>
              <a:rPr lang="en-US" dirty="0"/>
              <a:t>                return;</a:t>
            </a:r>
            <a:endParaRPr lang="en-UG" dirty="0"/>
          </a:p>
          <a:p>
            <a:r>
              <a:rPr lang="en-US" dirty="0"/>
              <a:t>            end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f_prime</a:t>
            </a:r>
            <a:r>
              <a:rPr lang="en-US" dirty="0"/>
              <a:t> = </a:t>
            </a:r>
            <a:r>
              <a:rPr lang="en-US" dirty="0" err="1"/>
              <a:t>obj.derivative</a:t>
            </a:r>
            <a:r>
              <a:rPr lang="en-US" dirty="0"/>
              <a:t>(x);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x_new</a:t>
            </a:r>
            <a:r>
              <a:rPr lang="en-US" dirty="0"/>
              <a:t> = x - f / </a:t>
            </a:r>
            <a:r>
              <a:rPr lang="en-US" dirty="0" err="1"/>
              <a:t>f_prime</a:t>
            </a:r>
            <a:r>
              <a:rPr lang="en-US" dirty="0"/>
              <a:t>;</a:t>
            </a:r>
            <a:endParaRPr lang="en-UG" dirty="0"/>
          </a:p>
          <a:p>
            <a:r>
              <a:rPr lang="en-US" dirty="0"/>
              <a:t>            root = </a:t>
            </a:r>
            <a:r>
              <a:rPr lang="en-US" dirty="0" err="1"/>
              <a:t>obj.newton_recursive</a:t>
            </a:r>
            <a:r>
              <a:rPr lang="en-US" dirty="0"/>
              <a:t>(</a:t>
            </a:r>
            <a:r>
              <a:rPr lang="en-US" dirty="0" err="1"/>
              <a:t>x_new</a:t>
            </a:r>
            <a:r>
              <a:rPr lang="en-US" dirty="0"/>
              <a:t>, iter + 1);</a:t>
            </a:r>
            <a:endParaRPr lang="en-UG" dirty="0"/>
          </a:p>
          <a:p>
            <a:r>
              <a:rPr lang="en-US" dirty="0"/>
              <a:t>        end </a:t>
            </a:r>
            <a:endParaRPr lang="en-UG" dirty="0"/>
          </a:p>
          <a:p>
            <a:r>
              <a:rPr lang="en-US" dirty="0"/>
              <a:t>      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3610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805754-ACEF-CF0C-378F-344601E860B5}"/>
              </a:ext>
            </a:extLst>
          </p:cNvPr>
          <p:cNvSpPr txBox="1"/>
          <p:nvPr/>
        </p:nvSpPr>
        <p:spPr>
          <a:xfrm>
            <a:off x="196645" y="235974"/>
            <a:ext cx="11818374" cy="659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root = </a:t>
            </a:r>
            <a:r>
              <a:rPr lang="en-US" dirty="0" err="1"/>
              <a:t>secant_recursive</a:t>
            </a:r>
            <a:r>
              <a:rPr lang="en-US" dirty="0"/>
              <a:t>(obj, x0, x1, iter)</a:t>
            </a:r>
            <a:endParaRPr lang="en-UG" dirty="0"/>
          </a:p>
          <a:p>
            <a:r>
              <a:rPr lang="en-US" dirty="0"/>
              <a:t>            if iter &gt; </a:t>
            </a:r>
            <a:r>
              <a:rPr lang="en-US" dirty="0" err="1"/>
              <a:t>obj.max_iter</a:t>
            </a:r>
            <a:endParaRPr lang="en-UG" dirty="0"/>
          </a:p>
          <a:p>
            <a:r>
              <a:rPr lang="en-US" dirty="0"/>
              <a:t>                error('Secant: Maximum iterations reached');</a:t>
            </a:r>
            <a:endParaRPr lang="en-UG" dirty="0"/>
          </a:p>
          <a:p>
            <a:r>
              <a:rPr lang="en-US" dirty="0"/>
              <a:t>            end</a:t>
            </a:r>
            <a:endParaRPr lang="en-UG" dirty="0"/>
          </a:p>
          <a:p>
            <a:r>
              <a:rPr lang="en-US" dirty="0"/>
              <a:t>            f0 = </a:t>
            </a:r>
            <a:r>
              <a:rPr lang="en-US" dirty="0" err="1"/>
              <a:t>obj.equation</a:t>
            </a:r>
            <a:r>
              <a:rPr lang="en-US" dirty="0"/>
              <a:t>(x0);</a:t>
            </a:r>
            <a:endParaRPr lang="en-UG" dirty="0"/>
          </a:p>
          <a:p>
            <a:r>
              <a:rPr lang="en-US" dirty="0"/>
              <a:t>            f1 = </a:t>
            </a:r>
            <a:r>
              <a:rPr lang="en-US" dirty="0" err="1"/>
              <a:t>obj.equation</a:t>
            </a:r>
            <a:r>
              <a:rPr lang="en-US" dirty="0"/>
              <a:t>(x1);</a:t>
            </a:r>
            <a:endParaRPr lang="en-UG" dirty="0"/>
          </a:p>
          <a:p>
            <a:r>
              <a:rPr lang="en-US" dirty="0"/>
              <a:t>            if abs(f1) &lt; </a:t>
            </a:r>
            <a:r>
              <a:rPr lang="en-US" dirty="0" err="1"/>
              <a:t>obj.tol</a:t>
            </a:r>
            <a:endParaRPr lang="en-UG" dirty="0"/>
          </a:p>
          <a:p>
            <a:r>
              <a:rPr lang="en-US" dirty="0"/>
              <a:t>                </a:t>
            </a:r>
            <a:r>
              <a:rPr lang="en-US" dirty="0" err="1"/>
              <a:t>fprintf</a:t>
            </a:r>
            <a:r>
              <a:rPr lang="en-US" dirty="0"/>
              <a:t>('   Converged in %d iterations\n', iter);</a:t>
            </a:r>
            <a:endParaRPr lang="en-UG" dirty="0"/>
          </a:p>
          <a:p>
            <a:r>
              <a:rPr lang="en-US" dirty="0"/>
              <a:t>                root = x1;</a:t>
            </a:r>
            <a:endParaRPr lang="en-UG" dirty="0"/>
          </a:p>
          <a:p>
            <a:r>
              <a:rPr lang="en-US" dirty="0"/>
              <a:t>                return;</a:t>
            </a:r>
            <a:endParaRPr lang="en-UG" dirty="0"/>
          </a:p>
          <a:p>
            <a:r>
              <a:rPr lang="en-US" dirty="0"/>
              <a:t>            end</a:t>
            </a:r>
            <a:endParaRPr lang="en-UG" dirty="0"/>
          </a:p>
          <a:p>
            <a:r>
              <a:rPr lang="en-US" dirty="0"/>
              <a:t>            x2 = x1 - f1 * (x1 - x0) / (f1 - f0);</a:t>
            </a:r>
            <a:endParaRPr lang="en-UG" dirty="0"/>
          </a:p>
          <a:p>
            <a:r>
              <a:rPr lang="en-US" dirty="0"/>
              <a:t>            root = </a:t>
            </a:r>
            <a:r>
              <a:rPr lang="en-US" dirty="0" err="1"/>
              <a:t>obj.secant_recursive</a:t>
            </a:r>
            <a:r>
              <a:rPr lang="en-US" dirty="0"/>
              <a:t>(x1, x2, iter + 1);</a:t>
            </a:r>
            <a:endParaRPr lang="en-UG" dirty="0"/>
          </a:p>
          <a:p>
            <a:r>
              <a:rPr lang="en-US" dirty="0"/>
              <a:t>        end</a:t>
            </a:r>
            <a:endParaRPr lang="en-UG" dirty="0"/>
          </a:p>
          <a:p>
            <a:r>
              <a:rPr lang="en-US" dirty="0"/>
              <a:t> </a:t>
            </a:r>
            <a:endParaRPr lang="en-UG" dirty="0"/>
          </a:p>
          <a:p>
            <a:r>
              <a:rPr lang="en-US" dirty="0"/>
              <a:t>        function </a:t>
            </a:r>
            <a:r>
              <a:rPr lang="en-US" dirty="0" err="1"/>
              <a:t>verify_solution</a:t>
            </a:r>
            <a:r>
              <a:rPr lang="en-US" dirty="0"/>
              <a:t>(obj, root, name)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f_val</a:t>
            </a:r>
            <a:r>
              <a:rPr lang="en-US" dirty="0"/>
              <a:t> = </a:t>
            </a:r>
            <a:r>
              <a:rPr lang="en-US" dirty="0" err="1"/>
              <a:t>obj.equation</a:t>
            </a:r>
            <a:r>
              <a:rPr lang="en-US" dirty="0"/>
              <a:t>(root);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fprintf</a:t>
            </a:r>
            <a:r>
              <a:rPr lang="en-US" dirty="0"/>
              <a:t>('   %s: f(%.8f) = %.2e\n', name, root, </a:t>
            </a:r>
            <a:r>
              <a:rPr lang="en-US" dirty="0" err="1"/>
              <a:t>f_val</a:t>
            </a:r>
            <a:r>
              <a:rPr lang="en-US" dirty="0"/>
              <a:t>);</a:t>
            </a:r>
            <a:endParaRPr lang="en-UG" dirty="0"/>
          </a:p>
          <a:p>
            <a:r>
              <a:rPr lang="en-US" dirty="0"/>
              <a:t>        end</a:t>
            </a:r>
            <a:endParaRPr lang="en-UG" dirty="0"/>
          </a:p>
          <a:p>
            <a:r>
              <a:rPr lang="en-US" dirty="0"/>
              <a:t>    end</a:t>
            </a:r>
            <a:endParaRPr lang="en-UG" dirty="0"/>
          </a:p>
          <a:p>
            <a:r>
              <a:rPr lang="en-US" dirty="0"/>
              <a:t>end </a:t>
            </a:r>
            <a:r>
              <a:rPr lang="en-GB" dirty="0"/>
              <a:t> </a:t>
            </a:r>
          </a:p>
          <a:p>
            <a:pPr marL="88900" indent="-6350" algn="just">
              <a:lnSpc>
                <a:spcPct val="111000"/>
              </a:lnSpc>
              <a:spcAft>
                <a:spcPts val="45"/>
              </a:spcAft>
              <a:buNone/>
            </a:pPr>
            <a:endParaRPr lang="en-GB" sz="2400" b="1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0308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D7EBE3-E067-F199-47AB-FB2D4123DD43}"/>
                  </a:ext>
                </a:extLst>
              </p:cNvPr>
              <p:cNvSpPr txBox="1"/>
              <p:nvPr/>
            </p:nvSpPr>
            <p:spPr>
              <a:xfrm>
                <a:off x="203200" y="0"/>
                <a:ext cx="10769600" cy="72943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b="1" dirty="0"/>
                  <a:t> Explanation of the Differential Solver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b="1" dirty="0"/>
                  <a:t>Class Definition:</a:t>
                </a:r>
                <a:br>
                  <a:rPr lang="en-GB" dirty="0"/>
                </a:br>
                <a:r>
                  <a:rPr lang="en-GB" dirty="0"/>
                  <a:t>An OOP-based MATLAB class for solving </a:t>
                </a:r>
                <a:r>
                  <a:rPr lang="en-GB" b="1" dirty="0"/>
                  <a:t>root-finding problems</a:t>
                </a:r>
                <a:r>
                  <a:rPr lang="en-GB" dirty="0"/>
                  <a:t>, inheriting from </a:t>
                </a:r>
                <a:r>
                  <a:rPr lang="en-GB" i="1" dirty="0" err="1"/>
                  <a:t>NumericalMethod</a:t>
                </a:r>
                <a:r>
                  <a:rPr lang="en-GB" dirty="0"/>
                  <a:t> </a:t>
                </a:r>
                <a:r>
                  <a:rPr lang="en-GB" i="1" dirty="0"/>
                  <a:t>.</a:t>
                </a:r>
                <a:br>
                  <a:rPr lang="en-GB" dirty="0"/>
                </a:br>
                <a:r>
                  <a:rPr lang="en-GB" dirty="0"/>
                  <a:t>Solves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using </a:t>
                </a:r>
                <a:r>
                  <a:rPr lang="en-GB" b="1" dirty="0"/>
                  <a:t>Newton–Raphson</a:t>
                </a:r>
                <a:r>
                  <a:rPr lang="en-GB" dirty="0"/>
                  <a:t> and </a:t>
                </a:r>
                <a:r>
                  <a:rPr lang="en-GB" b="1" dirty="0"/>
                  <a:t>Secant</a:t>
                </a:r>
                <a:r>
                  <a:rPr lang="en-GB" dirty="0"/>
                  <a:t> methods.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b="1" dirty="0"/>
                  <a:t>Private Properties:</a:t>
                </a:r>
                <a:br>
                  <a:rPr lang="en-GB" dirty="0"/>
                </a:br>
                <a:r>
                  <a:rPr lang="en-GB" dirty="0"/>
                  <a:t>• </a:t>
                </a:r>
                <a:r>
                  <a:rPr lang="en-GB" dirty="0">
                    <a:latin typeface="Courier New" panose="02070309020205020404" pitchFamily="49" charset="0"/>
                  </a:rPr>
                  <a:t>equation</a:t>
                </a:r>
                <a:r>
                  <a:rPr lang="en-GB" dirty="0"/>
                  <a:t> →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br>
                  <a:rPr lang="ar-AE" dirty="0"/>
                </a:br>
                <a:r>
                  <a:rPr lang="ar-AE" dirty="0"/>
                  <a:t>• </a:t>
                </a:r>
                <a:r>
                  <a:rPr lang="en-GB" dirty="0">
                    <a:latin typeface="Courier New" panose="02070309020205020404" pitchFamily="49" charset="0"/>
                  </a:rPr>
                  <a:t>derivative</a:t>
                </a:r>
                <a:r>
                  <a:rPr lang="en-GB" dirty="0"/>
                  <a:t> 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b="1" dirty="0"/>
                  <a:t>Constructor:</a:t>
                </a:r>
                <a:br>
                  <a:rPr lang="en-GB" dirty="0"/>
                </a:br>
                <a:r>
                  <a:rPr lang="en-GB" dirty="0"/>
                  <a:t>Initializes </a:t>
                </a:r>
                <a:r>
                  <a:rPr lang="en-GB" dirty="0" err="1">
                    <a:latin typeface="Courier New" panose="02070309020205020404" pitchFamily="49" charset="0"/>
                  </a:rPr>
                  <a:t>tol</a:t>
                </a:r>
                <a:r>
                  <a:rPr lang="en-GB" dirty="0"/>
                  <a:t>, </a:t>
                </a:r>
                <a:r>
                  <a:rPr lang="en-GB" dirty="0" err="1">
                    <a:latin typeface="Courier New" panose="02070309020205020404" pitchFamily="49" charset="0"/>
                  </a:rPr>
                  <a:t>max_iter</a:t>
                </a:r>
                <a:r>
                  <a:rPr lang="en-GB" dirty="0"/>
                  <a:t>, and function handles.</a:t>
                </a:r>
              </a:p>
              <a:p>
                <a:pPr rtl="0">
                  <a:buFont typeface="Arial" panose="020B0604020202020204" pitchFamily="34" charset="0"/>
                  <a:buChar char="•"/>
                </a:pPr>
                <a:r>
                  <a:rPr lang="en-GB" dirty="0">
                    <a:latin typeface="Courier New" panose="02070309020205020404" pitchFamily="49" charset="0"/>
                  </a:rPr>
                  <a:t>solver = </a:t>
                </a:r>
                <a:r>
                  <a:rPr lang="en-GB" dirty="0" err="1">
                    <a:latin typeface="Courier New" panose="02070309020205020404" pitchFamily="49" charset="0"/>
                  </a:rPr>
                  <a:t>DifferentialSolver</a:t>
                </a:r>
                <a:r>
                  <a:rPr lang="en-GB" dirty="0">
                    <a:latin typeface="Courier New" panose="02070309020205020404" pitchFamily="49" charset="0"/>
                  </a:rPr>
                  <a:t>(1e-6, 100);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b="1" dirty="0"/>
                  <a:t>Solve Method:</a:t>
                </a:r>
                <a:br>
                  <a:rPr lang="en-GB" dirty="0"/>
                </a:br>
                <a:r>
                  <a:rPr lang="en-GB" dirty="0"/>
                  <a:t>Executes both methods recursively:</a:t>
                </a:r>
                <a:br>
                  <a:rPr lang="en-GB" dirty="0"/>
                </a:br>
                <a:r>
                  <a:rPr lang="en-GB" dirty="0"/>
                  <a:t>• Newton–Raphson → </a:t>
                </a:r>
                <a:r>
                  <a:rPr lang="en-GB" dirty="0">
                    <a:latin typeface="Courier New" panose="02070309020205020404" pitchFamily="49" charset="0"/>
                  </a:rPr>
                  <a:t>x0 = 1.5</a:t>
                </a:r>
                <a:br>
                  <a:rPr lang="en-GB" dirty="0"/>
                </a:br>
                <a:r>
                  <a:rPr lang="en-GB" dirty="0"/>
                  <a:t>• Secant → </a:t>
                </a:r>
                <a:r>
                  <a:rPr lang="en-GB" dirty="0">
                    <a:latin typeface="Courier New" panose="02070309020205020404" pitchFamily="49" charset="0"/>
                  </a:rPr>
                  <a:t>x0 = 1.0</a:t>
                </a:r>
                <a:r>
                  <a:rPr lang="en-GB" dirty="0"/>
                  <a:t>, </a:t>
                </a:r>
                <a:r>
                  <a:rPr lang="en-GB" dirty="0">
                    <a:latin typeface="Courier New" panose="02070309020205020404" pitchFamily="49" charset="0"/>
                  </a:rPr>
                  <a:t>x1 = 2.0</a:t>
                </a:r>
                <a:br>
                  <a:rPr lang="en-GB" dirty="0"/>
                </a:br>
                <a:r>
                  <a:rPr lang="en-GB" dirty="0"/>
                  <a:t>Returns both roots.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b="1" dirty="0"/>
                  <a:t>Verification:</a:t>
                </a:r>
                <a:br>
                  <a:rPr lang="en-GB" dirty="0"/>
                </a:br>
                <a:r>
                  <a:rPr lang="en-GB" dirty="0"/>
                  <a:t>Checks accuracy using </a:t>
                </a:r>
                <a:r>
                  <a:rPr lang="en-GB" dirty="0">
                    <a:latin typeface="Courier New" panose="02070309020205020404" pitchFamily="49" charset="0"/>
                  </a:rPr>
                  <a:t>verify(result)</a:t>
                </a:r>
                <a:r>
                  <a:rPr lang="en-GB" dirty="0"/>
                  <a:t>;</a:t>
                </a:r>
                <a:br>
                  <a:rPr lang="en-GB" dirty="0"/>
                </a:br>
                <a:r>
                  <a:rPr lang="en-GB" dirty="0"/>
                  <a:t>convergence confirmed if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∣≈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b="1" dirty="0"/>
                  <a:t>Private Methods:</a:t>
                </a:r>
                <a:br>
                  <a:rPr lang="en-GB" dirty="0"/>
                </a:br>
                <a:r>
                  <a:rPr lang="en-GB" dirty="0"/>
                  <a:t>• </a:t>
                </a:r>
                <a:r>
                  <a:rPr lang="en-GB" dirty="0" err="1">
                    <a:latin typeface="Courier New" panose="02070309020205020404" pitchFamily="49" charset="0"/>
                  </a:rPr>
                  <a:t>newton_recursive</a:t>
                </a:r>
                <a:r>
                  <a:rPr lang="en-GB" dirty="0">
                    <a:latin typeface="Courier New" panose="02070309020205020404" pitchFamily="49" charset="0"/>
                  </a:rPr>
                  <a:t>()</a:t>
                </a:r>
                <a:r>
                  <a:rPr lang="en-GB" dirty="0"/>
                  <a:t> – uses derivative</a:t>
                </a:r>
                <a:br>
                  <a:rPr lang="en-GB" dirty="0"/>
                </a:br>
                <a:r>
                  <a:rPr lang="en-GB" dirty="0"/>
                  <a:t>• </a:t>
                </a:r>
                <a:r>
                  <a:rPr lang="en-GB" dirty="0" err="1">
                    <a:latin typeface="Courier New" panose="02070309020205020404" pitchFamily="49" charset="0"/>
                  </a:rPr>
                  <a:t>secant_recursive</a:t>
                </a:r>
                <a:r>
                  <a:rPr lang="en-GB" dirty="0">
                    <a:latin typeface="Courier New" panose="02070309020205020404" pitchFamily="49" charset="0"/>
                  </a:rPr>
                  <a:t>()</a:t>
                </a:r>
                <a:r>
                  <a:rPr lang="en-GB" dirty="0"/>
                  <a:t> – no derivative</a:t>
                </a:r>
                <a:br>
                  <a:rPr lang="en-GB" dirty="0"/>
                </a:br>
                <a:r>
                  <a:rPr lang="en-GB" dirty="0"/>
                  <a:t>• </a:t>
                </a:r>
                <a:r>
                  <a:rPr lang="en-GB" dirty="0" err="1">
                    <a:latin typeface="Courier New" panose="02070309020205020404" pitchFamily="49" charset="0"/>
                  </a:rPr>
                  <a:t>verify_solution</a:t>
                </a:r>
                <a:r>
                  <a:rPr lang="en-GB" dirty="0">
                    <a:latin typeface="Courier New" panose="02070309020205020404" pitchFamily="49" charset="0"/>
                  </a:rPr>
                  <a:t>()</a:t>
                </a:r>
                <a:r>
                  <a:rPr lang="en-GB" dirty="0"/>
                  <a:t> – checks residuals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b="1" dirty="0"/>
                  <a:t>Sample Output:</a:t>
                </a:r>
                <a:endParaRPr lang="en-GB" dirty="0"/>
              </a:p>
              <a:p>
                <a:pPr rtl="0">
                  <a:buFont typeface="Arial" panose="020B0604020202020204" pitchFamily="34" charset="0"/>
                  <a:buChar char="•"/>
                </a:pPr>
                <a:r>
                  <a:rPr lang="en-GB" dirty="0">
                    <a:latin typeface="Courier New" panose="02070309020205020404" pitchFamily="49" charset="0"/>
                  </a:rPr>
                  <a:t>Newton-Raphson Root: 1.87938524</a:t>
                </a:r>
              </a:p>
              <a:p>
                <a:pPr rtl="0">
                  <a:buFont typeface="Arial" panose="020B0604020202020204" pitchFamily="34" charset="0"/>
                  <a:buChar char="•"/>
                </a:pPr>
                <a:r>
                  <a:rPr lang="en-GB" dirty="0">
                    <a:latin typeface="Courier New" panose="02070309020205020404" pitchFamily="49" charset="0"/>
                  </a:rPr>
                  <a:t>Secant Root: 1.87938524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D7EBE3-E067-F199-47AB-FB2D4123D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" y="0"/>
                <a:ext cx="10769600" cy="7294305"/>
              </a:xfrm>
              <a:prstGeom prst="rect">
                <a:avLst/>
              </a:prstGeom>
              <a:blipFill>
                <a:blip r:embed="rId2"/>
                <a:stretch>
                  <a:fillRect l="-509" t="-418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416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20E751-4EAB-009E-C7BD-B59BE49B1201}"/>
              </a:ext>
            </a:extLst>
          </p:cNvPr>
          <p:cNvSpPr txBox="1"/>
          <p:nvPr/>
        </p:nvSpPr>
        <p:spPr>
          <a:xfrm>
            <a:off x="167148" y="344129"/>
            <a:ext cx="11729884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2.1.3 SUB-CLASS FOR INTEGRAL PROBLEMS/INTEGRAL SOLVER</a:t>
            </a:r>
            <a:endParaRPr lang="en-UG" b="1" dirty="0"/>
          </a:p>
          <a:p>
            <a:r>
              <a:rPr lang="en-GB" b="1" dirty="0"/>
              <a:t>2.1.3.1 CODE</a:t>
            </a:r>
            <a:endParaRPr lang="en-UG" dirty="0"/>
          </a:p>
          <a:p>
            <a:r>
              <a:rPr lang="en-US" dirty="0" err="1"/>
              <a:t>classdef</a:t>
            </a:r>
            <a:r>
              <a:rPr lang="en-US" dirty="0"/>
              <a:t> </a:t>
            </a:r>
            <a:r>
              <a:rPr lang="en-US" dirty="0" err="1"/>
              <a:t>IntegralSolver</a:t>
            </a:r>
            <a:r>
              <a:rPr lang="en-US" dirty="0"/>
              <a:t> &lt; </a:t>
            </a:r>
            <a:r>
              <a:rPr lang="en-US" dirty="0" err="1"/>
              <a:t>NumericalMethod</a:t>
            </a:r>
            <a:endParaRPr lang="en-UG" dirty="0"/>
          </a:p>
          <a:p>
            <a:r>
              <a:rPr lang="en-US" dirty="0"/>
              <a:t>    % Subclass handling integral (numerical integration) problems</a:t>
            </a:r>
            <a:endParaRPr lang="en-UG" dirty="0"/>
          </a:p>
          <a:p>
            <a:r>
              <a:rPr lang="en-US" dirty="0"/>
              <a:t> </a:t>
            </a:r>
            <a:endParaRPr lang="en-UG" dirty="0"/>
          </a:p>
          <a:p>
            <a:r>
              <a:rPr lang="en-US" dirty="0"/>
              <a:t>    properties (Access = private)</a:t>
            </a:r>
            <a:endParaRPr lang="en-UG" dirty="0"/>
          </a:p>
          <a:p>
            <a:r>
              <a:rPr lang="en-US" dirty="0"/>
              <a:t>        </a:t>
            </a:r>
            <a:r>
              <a:rPr lang="en-US" dirty="0" err="1"/>
              <a:t>func</a:t>
            </a:r>
            <a:r>
              <a:rPr lang="en-US" dirty="0"/>
              <a:t>  % Function handle to integrate</a:t>
            </a:r>
            <a:endParaRPr lang="en-UG" dirty="0"/>
          </a:p>
          <a:p>
            <a:r>
              <a:rPr lang="en-US" dirty="0"/>
              <a:t>        a     % Lower limit</a:t>
            </a:r>
            <a:endParaRPr lang="en-UG" dirty="0"/>
          </a:p>
          <a:p>
            <a:r>
              <a:rPr lang="en-US" dirty="0"/>
              <a:t>        b     % Upper limit</a:t>
            </a:r>
            <a:endParaRPr lang="en-UG" dirty="0"/>
          </a:p>
          <a:p>
            <a:r>
              <a:rPr lang="en-US" dirty="0"/>
              <a:t>        n     % Number of intervals</a:t>
            </a:r>
            <a:endParaRPr lang="en-UG" dirty="0"/>
          </a:p>
          <a:p>
            <a:r>
              <a:rPr lang="en-US" dirty="0"/>
              <a:t>    end</a:t>
            </a:r>
            <a:endParaRPr lang="en-UG" dirty="0"/>
          </a:p>
          <a:p>
            <a:r>
              <a:rPr lang="en-US" dirty="0"/>
              <a:t> </a:t>
            </a:r>
            <a:endParaRPr lang="en-UG" dirty="0"/>
          </a:p>
          <a:p>
            <a:r>
              <a:rPr lang="en-US" dirty="0"/>
              <a:t>    methods</a:t>
            </a:r>
            <a:endParaRPr lang="en-UG" dirty="0"/>
          </a:p>
          <a:p>
            <a:r>
              <a:rPr lang="en-US" dirty="0"/>
              <a:t>        function obj = </a:t>
            </a:r>
            <a:r>
              <a:rPr lang="en-US" dirty="0" err="1"/>
              <a:t>IntegralSolver</a:t>
            </a:r>
            <a:r>
              <a:rPr lang="en-US" dirty="0"/>
              <a:t>(</a:t>
            </a:r>
            <a:r>
              <a:rPr lang="en-US" dirty="0" err="1"/>
              <a:t>tol</a:t>
            </a:r>
            <a:r>
              <a:rPr lang="en-US" dirty="0"/>
              <a:t>, </a:t>
            </a:r>
            <a:r>
              <a:rPr lang="en-US" dirty="0" err="1"/>
              <a:t>max_iter</a:t>
            </a:r>
            <a:r>
              <a:rPr lang="en-US" dirty="0"/>
              <a:t>)</a:t>
            </a:r>
            <a:endParaRPr lang="en-UG" dirty="0"/>
          </a:p>
          <a:p>
            <a:r>
              <a:rPr lang="en-US" dirty="0"/>
              <a:t>            % Call superclass constructor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obj@NumericalMethod</a:t>
            </a:r>
            <a:r>
              <a:rPr lang="en-US" dirty="0"/>
              <a:t>(</a:t>
            </a:r>
            <a:r>
              <a:rPr lang="en-US" dirty="0" err="1"/>
              <a:t>tol</a:t>
            </a:r>
            <a:r>
              <a:rPr lang="en-US" dirty="0"/>
              <a:t>, </a:t>
            </a:r>
            <a:r>
              <a:rPr lang="en-US" dirty="0" err="1"/>
              <a:t>max_iter</a:t>
            </a:r>
            <a:r>
              <a:rPr lang="en-US" dirty="0"/>
              <a:t>);</a:t>
            </a:r>
            <a:endParaRPr lang="en-UG" dirty="0"/>
          </a:p>
          <a:p>
            <a:r>
              <a:rPr lang="en-US" dirty="0"/>
              <a:t>            % Example: Integrate f(x) = x^2 from 0 to 3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obj.func</a:t>
            </a:r>
            <a:r>
              <a:rPr lang="en-US" dirty="0"/>
              <a:t> = @(x) x.^2;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obj.a</a:t>
            </a:r>
            <a:r>
              <a:rPr lang="en-US" dirty="0"/>
              <a:t> = 0;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obj.b</a:t>
            </a:r>
            <a:r>
              <a:rPr lang="en-US" dirty="0"/>
              <a:t> = 3;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obj.n</a:t>
            </a:r>
            <a:r>
              <a:rPr lang="en-US" dirty="0"/>
              <a:t> = 100;</a:t>
            </a:r>
            <a:endParaRPr lang="en-UG" dirty="0"/>
          </a:p>
          <a:p>
            <a:r>
              <a:rPr lang="en-US" dirty="0"/>
              <a:t>        end</a:t>
            </a:r>
            <a:endParaRPr lang="en-UG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4551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FD7E2-397A-57CE-5F7B-AD290EBBD58C}"/>
              </a:ext>
            </a:extLst>
          </p:cNvPr>
          <p:cNvSpPr txBox="1"/>
          <p:nvPr/>
        </p:nvSpPr>
        <p:spPr>
          <a:xfrm>
            <a:off x="226142" y="206477"/>
            <a:ext cx="11769213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result = solve(obj)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fprintf</a:t>
            </a:r>
            <a:r>
              <a:rPr lang="en-US" dirty="0"/>
              <a:t>('\n=== Integral Problem Solver ===\n');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fprintf</a:t>
            </a:r>
            <a:r>
              <a:rPr lang="en-US" dirty="0"/>
              <a:t>('Solving: ∫ x^2 dx from 0 to 3 using Trapezoidal Rule\n\n');</a:t>
            </a:r>
            <a:endParaRPr lang="en-UG" dirty="0"/>
          </a:p>
          <a:p>
            <a:r>
              <a:rPr lang="en-US" dirty="0"/>
              <a:t>            result = </a:t>
            </a:r>
            <a:r>
              <a:rPr lang="en-US" dirty="0" err="1"/>
              <a:t>obj.trapezoidal</a:t>
            </a:r>
            <a:r>
              <a:rPr lang="en-US" dirty="0"/>
              <a:t>();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fprintf</a:t>
            </a:r>
            <a:r>
              <a:rPr lang="en-US" dirty="0"/>
              <a:t>('   Integral ≈ %.8f\n', result);</a:t>
            </a:r>
            <a:endParaRPr lang="en-UG" dirty="0"/>
          </a:p>
          <a:p>
            <a:r>
              <a:rPr lang="en-US" dirty="0"/>
              <a:t>        end</a:t>
            </a:r>
            <a:endParaRPr lang="en-UG" dirty="0"/>
          </a:p>
          <a:p>
            <a:r>
              <a:rPr lang="en-US" dirty="0"/>
              <a:t> </a:t>
            </a:r>
            <a:endParaRPr lang="en-UG" dirty="0"/>
          </a:p>
          <a:p>
            <a:r>
              <a:rPr lang="en-US" dirty="0"/>
              <a:t>        function verify(obj, result)</a:t>
            </a:r>
            <a:endParaRPr lang="en-UG" dirty="0"/>
          </a:p>
          <a:p>
            <a:r>
              <a:rPr lang="en-US" dirty="0"/>
              <a:t>            % Verify result with analytical value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true_val</a:t>
            </a:r>
            <a:r>
              <a:rPr lang="en-US" dirty="0"/>
              <a:t> = (obj.b^3 - obj.a^3) / 3;</a:t>
            </a:r>
            <a:endParaRPr lang="en-UG" dirty="0"/>
          </a:p>
          <a:p>
            <a:r>
              <a:rPr lang="en-US" dirty="0"/>
              <a:t>            err = abs(</a:t>
            </a:r>
            <a:r>
              <a:rPr lang="en-US" dirty="0" err="1"/>
              <a:t>true_val</a:t>
            </a:r>
            <a:r>
              <a:rPr lang="en-US" dirty="0"/>
              <a:t> - result);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fprintf</a:t>
            </a:r>
            <a:r>
              <a:rPr lang="en-US" dirty="0"/>
              <a:t>('   Analytical value = %.8f\n', </a:t>
            </a:r>
            <a:r>
              <a:rPr lang="en-US" dirty="0" err="1"/>
              <a:t>true_val</a:t>
            </a:r>
            <a:r>
              <a:rPr lang="en-US" dirty="0"/>
              <a:t>);</a:t>
            </a:r>
            <a:endParaRPr lang="en-UG" dirty="0"/>
          </a:p>
          <a:p>
            <a:r>
              <a:rPr lang="en-US" dirty="0"/>
              <a:t>            </a:t>
            </a:r>
            <a:r>
              <a:rPr lang="en-US" dirty="0" err="1"/>
              <a:t>fprintf</a:t>
            </a:r>
            <a:r>
              <a:rPr lang="en-US" dirty="0"/>
              <a:t>('   Error = %.2e\n', err);</a:t>
            </a:r>
            <a:endParaRPr lang="en-UG" dirty="0"/>
          </a:p>
          <a:p>
            <a:r>
              <a:rPr lang="en-US" dirty="0"/>
              <a:t>        end</a:t>
            </a:r>
            <a:endParaRPr lang="en-UG" dirty="0"/>
          </a:p>
          <a:p>
            <a:r>
              <a:rPr lang="en-US" dirty="0"/>
              <a:t>    end</a:t>
            </a:r>
            <a:endParaRPr lang="en-UG" dirty="0"/>
          </a:p>
          <a:p>
            <a:r>
              <a:rPr lang="en-US" dirty="0"/>
              <a:t>     methods (Access = private)</a:t>
            </a:r>
            <a:endParaRPr lang="en-UG" dirty="0"/>
          </a:p>
          <a:p>
            <a:r>
              <a:rPr lang="en-US" dirty="0"/>
              <a:t>        function I = trapezoidal(obj)</a:t>
            </a:r>
            <a:endParaRPr lang="en-UG" dirty="0"/>
          </a:p>
          <a:p>
            <a:r>
              <a:rPr lang="en-US" dirty="0"/>
              <a:t>            h = (</a:t>
            </a:r>
            <a:r>
              <a:rPr lang="en-US" dirty="0" err="1"/>
              <a:t>obj.b</a:t>
            </a:r>
            <a:r>
              <a:rPr lang="en-US" dirty="0"/>
              <a:t> - </a:t>
            </a:r>
            <a:r>
              <a:rPr lang="en-US" dirty="0" err="1"/>
              <a:t>obj.a</a:t>
            </a:r>
            <a:r>
              <a:rPr lang="en-US" dirty="0"/>
              <a:t>) / </a:t>
            </a:r>
            <a:r>
              <a:rPr lang="en-US" dirty="0" err="1"/>
              <a:t>obj.n</a:t>
            </a:r>
            <a:r>
              <a:rPr lang="en-US" dirty="0"/>
              <a:t>;</a:t>
            </a:r>
            <a:endParaRPr lang="en-UG" dirty="0"/>
          </a:p>
          <a:p>
            <a:r>
              <a:rPr lang="en-US" dirty="0"/>
              <a:t>            x = </a:t>
            </a:r>
            <a:r>
              <a:rPr lang="en-US" dirty="0" err="1"/>
              <a:t>obj.a:h:obj.b</a:t>
            </a:r>
            <a:r>
              <a:rPr lang="en-US" dirty="0"/>
              <a:t>;</a:t>
            </a:r>
            <a:endParaRPr lang="en-UG" dirty="0"/>
          </a:p>
          <a:p>
            <a:r>
              <a:rPr lang="en-US" dirty="0"/>
              <a:t>            y = </a:t>
            </a:r>
            <a:r>
              <a:rPr lang="en-US" dirty="0" err="1"/>
              <a:t>obj.func</a:t>
            </a:r>
            <a:r>
              <a:rPr lang="en-US" dirty="0"/>
              <a:t>(x);</a:t>
            </a:r>
            <a:endParaRPr lang="en-UG" dirty="0"/>
          </a:p>
          <a:p>
            <a:r>
              <a:rPr lang="en-US" dirty="0"/>
              <a:t>            I = (h/2) * (y(1) + 2*sum(y(2:end-1)) + y(end));</a:t>
            </a:r>
            <a:endParaRPr lang="en-UG" dirty="0"/>
          </a:p>
          <a:p>
            <a:r>
              <a:rPr lang="en-US" dirty="0"/>
              <a:t>        end</a:t>
            </a:r>
            <a:endParaRPr lang="en-UG" dirty="0"/>
          </a:p>
          <a:p>
            <a:r>
              <a:rPr lang="en-US" dirty="0"/>
              <a:t>    end</a:t>
            </a:r>
            <a:endParaRPr lang="en-UG" dirty="0"/>
          </a:p>
          <a:p>
            <a:r>
              <a:rPr lang="en-US" dirty="0"/>
              <a:t>end</a:t>
            </a:r>
            <a:endParaRPr lang="en-UG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8314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11620A-C5AF-348B-2793-92BAD5AE9172}"/>
              </a:ext>
            </a:extLst>
          </p:cNvPr>
          <p:cNvSpPr txBox="1"/>
          <p:nvPr/>
        </p:nvSpPr>
        <p:spPr>
          <a:xfrm>
            <a:off x="226142" y="255639"/>
            <a:ext cx="11690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88F34B-B16B-6231-92B7-E1D3CA11AA29}"/>
                  </a:ext>
                </a:extLst>
              </p:cNvPr>
              <p:cNvSpPr txBox="1"/>
              <p:nvPr/>
            </p:nvSpPr>
            <p:spPr>
              <a:xfrm>
                <a:off x="275303" y="0"/>
                <a:ext cx="11641393" cy="6989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b="1" dirty="0"/>
                  <a:t>2.1.3.2 – Explanation of the Integral Solver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b="1" dirty="0"/>
                  <a:t>Class Definition:</a:t>
                </a:r>
                <a:br>
                  <a:rPr lang="en-GB" dirty="0"/>
                </a:br>
                <a:r>
                  <a:rPr lang="en-GB" dirty="0"/>
                  <a:t>MATLAB OOP class for </a:t>
                </a:r>
                <a:r>
                  <a:rPr lang="en-GB" b="1" dirty="0"/>
                  <a:t>numerical integration</a:t>
                </a:r>
                <a:r>
                  <a:rPr lang="en-GB" dirty="0"/>
                  <a:t>, inheriting from </a:t>
                </a:r>
                <a:r>
                  <a:rPr lang="en-GB" i="1" dirty="0" err="1"/>
                  <a:t>NumericalMethod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Implements the </a:t>
                </a:r>
                <a:r>
                  <a:rPr lang="en-GB" b="1" dirty="0"/>
                  <a:t>Trapezoidal Rule</a:t>
                </a:r>
                <a:r>
                  <a:rPr lang="en-GB" dirty="0"/>
                  <a:t> to approximate definite integrals.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b="1" dirty="0"/>
                  <a:t>Private Properties:</a:t>
                </a:r>
                <a:br>
                  <a:rPr lang="en-GB" dirty="0"/>
                </a:br>
                <a:r>
                  <a:rPr lang="en-GB" dirty="0"/>
                  <a:t>• </a:t>
                </a:r>
                <a:r>
                  <a:rPr lang="en-GB" dirty="0" err="1">
                    <a:latin typeface="Courier New" panose="02070309020205020404" pitchFamily="49" charset="0"/>
                  </a:rPr>
                  <a:t>func</a:t>
                </a:r>
                <a:r>
                  <a:rPr lang="en-GB" dirty="0"/>
                  <a:t> → function handle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br>
                  <a:rPr lang="ar-AE" dirty="0"/>
                </a:br>
                <a:r>
                  <a:rPr lang="ar-AE" dirty="0"/>
                  <a:t>• </a:t>
                </a:r>
                <a:r>
                  <a:rPr lang="en-GB" dirty="0">
                    <a:latin typeface="Courier New" panose="02070309020205020404" pitchFamily="49" charset="0"/>
                  </a:rPr>
                  <a:t>a</a:t>
                </a:r>
                <a:r>
                  <a:rPr lang="en-GB" dirty="0"/>
                  <a:t>, </a:t>
                </a:r>
                <a:r>
                  <a:rPr lang="en-GB" dirty="0">
                    <a:latin typeface="Courier New" panose="02070309020205020404" pitchFamily="49" charset="0"/>
                  </a:rPr>
                  <a:t>b</a:t>
                </a:r>
                <a:r>
                  <a:rPr lang="en-GB" dirty="0"/>
                  <a:t> → lower &amp; upper limits</a:t>
                </a:r>
                <a:br>
                  <a:rPr lang="en-GB" dirty="0"/>
                </a:br>
                <a:r>
                  <a:rPr lang="en-GB" dirty="0"/>
                  <a:t>• </a:t>
                </a:r>
                <a:r>
                  <a:rPr lang="en-GB" dirty="0">
                    <a:latin typeface="Courier New" panose="02070309020205020404" pitchFamily="49" charset="0"/>
                  </a:rPr>
                  <a:t>n</a:t>
                </a:r>
                <a:r>
                  <a:rPr lang="en-GB" dirty="0"/>
                  <a:t> → number of subintervals</a:t>
                </a:r>
                <a:br>
                  <a:rPr lang="en-GB" dirty="0"/>
                </a:br>
                <a:r>
                  <a:rPr lang="en-GB" i="1" dirty="0"/>
                  <a:t>(Example: integrate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i="1" dirty="0"/>
                  <a:t>from 0 → 3 with n = 100)</a:t>
                </a:r>
                <a:endParaRPr lang="en-GB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b="1" dirty="0"/>
                  <a:t>Constructor:</a:t>
                </a:r>
                <a:br>
                  <a:rPr lang="en-GB" dirty="0"/>
                </a:br>
                <a:r>
                  <a:rPr lang="en-GB" dirty="0"/>
                  <a:t>Initializes </a:t>
                </a:r>
                <a:r>
                  <a:rPr lang="en-GB" dirty="0" err="1">
                    <a:latin typeface="Courier New" panose="02070309020205020404" pitchFamily="49" charset="0"/>
                  </a:rPr>
                  <a:t>tol</a:t>
                </a:r>
                <a:r>
                  <a:rPr lang="en-GB" dirty="0"/>
                  <a:t>, </a:t>
                </a:r>
                <a:r>
                  <a:rPr lang="en-GB" dirty="0" err="1">
                    <a:latin typeface="Courier New" panose="02070309020205020404" pitchFamily="49" charset="0"/>
                  </a:rPr>
                  <a:t>max_iter</a:t>
                </a:r>
                <a:r>
                  <a:rPr lang="en-GB" dirty="0"/>
                  <a:t>, defines function, sets limits (a = 0, b = 3), and divides into subintervals.</a:t>
                </a:r>
              </a:p>
              <a:p>
                <a:pPr rtl="0">
                  <a:buFont typeface="Arial" panose="020B0604020202020204" pitchFamily="34" charset="0"/>
                  <a:buChar char="•"/>
                </a:pPr>
                <a:r>
                  <a:rPr lang="en-GB" dirty="0">
                    <a:latin typeface="Courier New" panose="02070309020205020404" pitchFamily="49" charset="0"/>
                  </a:rPr>
                  <a:t>solver = </a:t>
                </a:r>
                <a:r>
                  <a:rPr lang="en-GB" dirty="0" err="1">
                    <a:latin typeface="Courier New" panose="02070309020205020404" pitchFamily="49" charset="0"/>
                  </a:rPr>
                  <a:t>IntegralSolver</a:t>
                </a:r>
                <a:r>
                  <a:rPr lang="en-GB" dirty="0">
                    <a:latin typeface="Courier New" panose="02070309020205020404" pitchFamily="49" charset="0"/>
                  </a:rPr>
                  <a:t>(1e-6, 100);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b="1" dirty="0"/>
                  <a:t>Solve Method:</a:t>
                </a:r>
                <a:br>
                  <a:rPr lang="en-GB" dirty="0"/>
                </a:br>
                <a:r>
                  <a:rPr lang="en-GB" dirty="0"/>
                  <a:t>Executes Trapezoidal Rule via </a:t>
                </a:r>
                <a:r>
                  <a:rPr lang="en-GB" dirty="0">
                    <a:latin typeface="Courier New" panose="02070309020205020404" pitchFamily="49" charset="0"/>
                  </a:rPr>
                  <a:t>trapezoidal()</a:t>
                </a:r>
                <a:r>
                  <a:rPr lang="en-GB" dirty="0"/>
                  <a:t> to compute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>
                        <a:latin typeface="Cambria Math" panose="02040503050406030204" pitchFamily="18" charset="0"/>
                      </a:rPr>
                      <m:t>9</m:t>
                    </m:r>
                    <m:r>
                      <a:rPr lang="en-GB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>
                        <a:latin typeface="Cambria Math" panose="02040503050406030204" pitchFamily="18" charset="0"/>
                      </a:rPr>
                      <m:t>00045</m:t>
                    </m:r>
                  </m:oMath>
                </a14:m>
                <a:br>
                  <a:rPr lang="en-GB" dirty="0"/>
                </a:br>
                <a:r>
                  <a:rPr lang="en-GB" b="1" dirty="0"/>
                  <a:t>Verification:</a:t>
                </a:r>
                <a:br>
                  <a:rPr lang="en-GB" dirty="0"/>
                </a:br>
                <a:r>
                  <a:rPr lang="en-GB" dirty="0"/>
                  <a:t>Compares numerical and analytical results: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b="0"/>
                      <m:t>True</m:t>
                    </m:r>
                    <m:r>
                      <m:rPr>
                        <m:nor/>
                      </m:rPr>
                      <a:rPr lang="en-GB" b="0" i="1"/>
                      <m:t> </m:t>
                    </m:r>
                    <m:r>
                      <m:rPr>
                        <m:nor/>
                      </m:rPr>
                      <a:rPr lang="en-GB" b="0" i="1"/>
                      <m:t>value</m:t>
                    </m:r>
                    <m:r>
                      <a:rPr lang="en-GB" b="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ar-AE" b="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br>
                  <a:rPr lang="ar-AE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b="0"/>
                      <m:t>Error</m:t>
                    </m:r>
                    <m:r>
                      <a:rPr lang="en-GB" b="0" i="0">
                        <a:latin typeface="Cambria Math" panose="02040503050406030204" pitchFamily="18" charset="0"/>
                      </a:rPr>
                      <m:t>=∣</m:t>
                    </m:r>
                    <m:r>
                      <a:rPr lang="en-GB" b="0" i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GB" b="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GB" b="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0" i="0">
                        <a:latin typeface="Cambria Math" panose="02040503050406030204" pitchFamily="18" charset="0"/>
                      </a:rPr>
                      <m:t>00045</m:t>
                    </m:r>
                    <m:r>
                      <a:rPr lang="en-GB" b="0" i="0">
                        <a:latin typeface="Cambria Math" panose="02040503050406030204" pitchFamily="18" charset="0"/>
                      </a:rPr>
                      <m:t>∣=</m:t>
                    </m:r>
                    <m:r>
                      <a:rPr lang="en-GB" b="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b="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0" i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b="0" i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b="1" dirty="0"/>
                  <a:t>Trapezoidal Formula: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b="1" dirty="0"/>
                  <a:t>Example of Use:</a:t>
                </a:r>
                <a:endParaRPr lang="en-GB" dirty="0"/>
              </a:p>
              <a:p>
                <a:pPr rtl="0">
                  <a:buFont typeface="Arial" panose="020B0604020202020204" pitchFamily="34" charset="0"/>
                  <a:buChar char="•"/>
                </a:pPr>
                <a:r>
                  <a:rPr lang="en-GB" dirty="0">
                    <a:latin typeface="Courier New" panose="02070309020205020404" pitchFamily="49" charset="0"/>
                  </a:rPr>
                  <a:t>result = </a:t>
                </a:r>
                <a:r>
                  <a:rPr lang="en-GB" dirty="0" err="1">
                    <a:latin typeface="Courier New" panose="02070309020205020404" pitchFamily="49" charset="0"/>
                  </a:rPr>
                  <a:t>solver.solve</a:t>
                </a:r>
                <a:r>
                  <a:rPr lang="en-GB" dirty="0">
                    <a:latin typeface="Courier New" panose="02070309020205020404" pitchFamily="49" charset="0"/>
                  </a:rPr>
                  <a:t>();</a:t>
                </a:r>
              </a:p>
              <a:p>
                <a:pPr rtl="0">
                  <a:buFont typeface="Arial" panose="020B0604020202020204" pitchFamily="34" charset="0"/>
                  <a:buChar char="•"/>
                </a:pPr>
                <a:r>
                  <a:rPr lang="en-GB" dirty="0" err="1">
                    <a:latin typeface="Courier New" panose="02070309020205020404" pitchFamily="49" charset="0"/>
                  </a:rPr>
                  <a:t>solver.verify</a:t>
                </a:r>
                <a:r>
                  <a:rPr lang="en-GB" dirty="0">
                    <a:latin typeface="Courier New" panose="02070309020205020404" pitchFamily="49" charset="0"/>
                  </a:rPr>
                  <a:t>(result);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88F34B-B16B-6231-92B7-E1D3CA11A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03" y="0"/>
                <a:ext cx="11641393" cy="6989221"/>
              </a:xfrm>
              <a:prstGeom prst="rect">
                <a:avLst/>
              </a:prstGeom>
              <a:blipFill>
                <a:blip r:embed="rId2"/>
                <a:stretch>
                  <a:fillRect l="-471" t="-436" b="-436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107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0F240C-EBAB-3930-721C-2350C3AB25D6}"/>
              </a:ext>
            </a:extLst>
          </p:cNvPr>
          <p:cNvSpPr txBox="1"/>
          <p:nvPr/>
        </p:nvSpPr>
        <p:spPr>
          <a:xfrm>
            <a:off x="1814286" y="1001487"/>
            <a:ext cx="8665028" cy="365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1227455" algn="l"/>
              </a:tabLst>
            </a:pP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2.1.4 CHECKING CODE	</a:t>
            </a:r>
            <a:endParaRPr lang="en-UG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Bef>
                <a:spcPts val="700"/>
              </a:spcBef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clear;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clc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lang="en-UG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buNone/>
            </a:pPr>
            <a:r>
              <a:rPr lang="en-US" sz="18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  <a:endParaRPr lang="en-UG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fprintf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('=== NUMERICAL METHODS APPLICATION (OOP) ===\n\n');</a:t>
            </a:r>
            <a:endParaRPr lang="en-UG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buNone/>
            </a:pPr>
            <a:r>
              <a:rPr lang="en-US" sz="18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  <a:endParaRPr lang="en-UG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Create and test Differential Solver</a:t>
            </a:r>
            <a:endParaRPr lang="en-UG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diffSolver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DifferentialSolver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(1e-6, 100);</a:t>
            </a:r>
            <a:endParaRPr lang="en-UG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diffResult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diffSolver.solve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();</a:t>
            </a:r>
            <a:endParaRPr lang="en-UG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diffSolver.verify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diffResult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lang="en-UG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buNone/>
            </a:pPr>
            <a:r>
              <a:rPr lang="en-US" sz="18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  <a:endParaRPr lang="en-UG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Create and test Integral Solver</a:t>
            </a:r>
            <a:endParaRPr lang="en-UG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intSolver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IntegralSolver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(1e-6, 100);</a:t>
            </a:r>
            <a:endParaRPr lang="en-UG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intResult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intSolver.solve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();</a:t>
            </a:r>
            <a:endParaRPr lang="en-UG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intSolver.verify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intResult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lang="en-UG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700"/>
              </a:spcAft>
              <a:buNone/>
            </a:pPr>
            <a:r>
              <a:rPr lang="en-US" sz="18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  <a:endParaRPr lang="en-UG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fprintf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('\n=== All Computations Complete ===\n');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569669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8A45C0-F77C-F12A-9161-56BEF56FA8C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1916697" cy="7029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2.1.4.1 – Explanation of the Checking Code</a:t>
                </a:r>
              </a:p>
              <a:p>
                <a:r>
                  <a:rPr lang="en-GB" b="1" dirty="0"/>
                  <a:t>Introduction:</a:t>
                </a:r>
                <a:br>
                  <a:rPr lang="en-GB" dirty="0"/>
                </a:br>
                <a:r>
                  <a:rPr lang="en-GB" dirty="0"/>
                  <a:t>Main MATLAB script that demonstrates </a:t>
                </a:r>
                <a:r>
                  <a:rPr lang="en-GB" b="1" dirty="0"/>
                  <a:t>OOP application</a:t>
                </a:r>
                <a:r>
                  <a:rPr lang="en-GB" dirty="0"/>
                  <a:t> of numerical methods—testing </a:t>
                </a:r>
                <a:r>
                  <a:rPr lang="en-GB" i="1" dirty="0" err="1"/>
                  <a:t>DifferentialSolver</a:t>
                </a:r>
                <a:r>
                  <a:rPr lang="en-GB" dirty="0"/>
                  <a:t> (root-finding) and </a:t>
                </a:r>
                <a:r>
                  <a:rPr lang="en-GB" i="1" dirty="0" err="1"/>
                  <a:t>IntegralSolver</a:t>
                </a:r>
                <a:r>
                  <a:rPr lang="en-GB" dirty="0"/>
                  <a:t> (integration), both inheriting from </a:t>
                </a:r>
                <a:r>
                  <a:rPr lang="en-GB" i="1" dirty="0" err="1"/>
                  <a:t>NumericalMethod</a:t>
                </a:r>
                <a:r>
                  <a:rPr lang="en-GB" dirty="0"/>
                  <a:t>.</a:t>
                </a:r>
              </a:p>
              <a:p>
                <a:r>
                  <a:rPr lang="en-GB" b="1" dirty="0"/>
                  <a:t>Clearing &amp; Setup:</a:t>
                </a:r>
                <a:endParaRPr lang="en-GB" dirty="0"/>
              </a:p>
              <a:p>
                <a:r>
                  <a:rPr lang="en-GB" dirty="0"/>
                  <a:t>clear; </a:t>
                </a:r>
                <a:r>
                  <a:rPr lang="en-GB" dirty="0" err="1"/>
                  <a:t>clc</a:t>
                </a:r>
                <a:r>
                  <a:rPr lang="en-GB" dirty="0"/>
                  <a:t>;</a:t>
                </a:r>
              </a:p>
              <a:p>
                <a:r>
                  <a:rPr lang="en-GB" dirty="0"/>
                  <a:t>• clear – removes old workspace data</a:t>
                </a:r>
                <a:br>
                  <a:rPr lang="en-GB" dirty="0"/>
                </a:br>
                <a:r>
                  <a:rPr lang="en-GB" dirty="0"/>
                  <a:t>• </a:t>
                </a:r>
                <a:r>
                  <a:rPr lang="en-GB" dirty="0" err="1"/>
                  <a:t>clc</a:t>
                </a:r>
                <a:r>
                  <a:rPr lang="en-GB" dirty="0"/>
                  <a:t> – clears command window for clean output</a:t>
                </a:r>
              </a:p>
              <a:p>
                <a:r>
                  <a:rPr lang="en-GB" b="1" dirty="0"/>
                  <a:t>Program Header:</a:t>
                </a:r>
                <a:endParaRPr lang="en-GB" dirty="0"/>
              </a:p>
              <a:p>
                <a:r>
                  <a:rPr lang="en-GB" dirty="0" err="1"/>
                  <a:t>fprintf</a:t>
                </a:r>
                <a:r>
                  <a:rPr lang="en-GB" dirty="0"/>
                  <a:t>('=== NUMERICAL METHODS APPLICATION (OOP) ===\n\n');</a:t>
                </a:r>
              </a:p>
              <a:p>
                <a:r>
                  <a:rPr lang="en-GB" dirty="0"/>
                  <a:t>Displays formatted title for program start.</a:t>
                </a:r>
              </a:p>
              <a:p>
                <a:r>
                  <a:rPr lang="en-GB" b="1" dirty="0"/>
                  <a:t>Differential Solver Section:</a:t>
                </a:r>
                <a:endParaRPr lang="en-GB" dirty="0"/>
              </a:p>
              <a:p>
                <a:r>
                  <a:rPr lang="en-GB" dirty="0" err="1"/>
                  <a:t>diffSolver</a:t>
                </a:r>
                <a:r>
                  <a:rPr lang="en-GB" dirty="0"/>
                  <a:t> = </a:t>
                </a:r>
                <a:r>
                  <a:rPr lang="en-GB" dirty="0" err="1"/>
                  <a:t>DifferentialSolver</a:t>
                </a:r>
                <a:r>
                  <a:rPr lang="en-GB" dirty="0"/>
                  <a:t>(1e-6,100);</a:t>
                </a:r>
              </a:p>
              <a:p>
                <a:r>
                  <a:rPr lang="en-GB" dirty="0" err="1"/>
                  <a:t>diffResult</a:t>
                </a:r>
                <a:r>
                  <a:rPr lang="en-GB" dirty="0"/>
                  <a:t> = </a:t>
                </a:r>
                <a:r>
                  <a:rPr lang="en-GB" dirty="0" err="1"/>
                  <a:t>diffSolver.solve</a:t>
                </a:r>
                <a:r>
                  <a:rPr lang="en-GB" dirty="0"/>
                  <a:t>();</a:t>
                </a:r>
              </a:p>
              <a:p>
                <a:r>
                  <a:rPr lang="en-GB" dirty="0" err="1"/>
                  <a:t>diffSolver.verify</a:t>
                </a:r>
                <a:r>
                  <a:rPr lang="en-GB" dirty="0"/>
                  <a:t>(</a:t>
                </a:r>
                <a:r>
                  <a:rPr lang="en-GB" dirty="0" err="1"/>
                  <a:t>diffResult</a:t>
                </a:r>
                <a:r>
                  <a:rPr lang="en-GB" dirty="0"/>
                  <a:t>);</a:t>
                </a:r>
              </a:p>
              <a:p>
                <a:r>
                  <a:rPr lang="en-GB" dirty="0"/>
                  <a:t>Solves </a:t>
                </a:r>
                <a14:m>
                  <m:oMath xmlns:m="http://schemas.openxmlformats.org/officeDocument/2006/math">
                    <m:r>
                      <a:rPr lang="en-GB" i="1"/>
                      <m:t>𝑓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</m:d>
                    <m:r>
                      <a:rPr lang="ar-AE"/>
                      <m:t>=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i="1"/>
                          <m:t>𝑥</m:t>
                        </m:r>
                      </m:e>
                      <m:sup>
                        <m:r>
                          <a:rPr lang="ar-AE"/>
                          <m:t>3</m:t>
                        </m:r>
                      </m:sup>
                    </m:sSup>
                    <m:r>
                      <a:rPr lang="ar-AE"/>
                      <m:t>−</m:t>
                    </m:r>
                    <m:r>
                      <a:rPr lang="ar-AE" i="1"/>
                      <m:t>𝑥</m:t>
                    </m:r>
                    <m:r>
                      <a:rPr lang="ar-AE"/>
                      <m:t>−</m:t>
                    </m:r>
                    <m:r>
                      <a:rPr lang="ar-AE"/>
                      <m:t>3</m:t>
                    </m:r>
                  </m:oMath>
                </a14:m>
                <a:r>
                  <a:rPr lang="en-GB" dirty="0"/>
                  <a:t>using </a:t>
                </a:r>
                <a:r>
                  <a:rPr lang="en-GB" b="1" dirty="0"/>
                  <a:t>Newton–Raphson</a:t>
                </a:r>
                <a:r>
                  <a:rPr lang="en-GB" dirty="0"/>
                  <a:t> &amp; </a:t>
                </a:r>
                <a:r>
                  <a:rPr lang="en-GB" b="1" dirty="0"/>
                  <a:t>Secant</a:t>
                </a:r>
                <a:r>
                  <a:rPr lang="en-GB" dirty="0"/>
                  <a:t> methods.</a:t>
                </a:r>
              </a:p>
              <a:p>
                <a:r>
                  <a:rPr lang="en-GB" b="1" dirty="0"/>
                  <a:t>Integral Solver Section:</a:t>
                </a:r>
                <a:endParaRPr lang="en-GB" dirty="0"/>
              </a:p>
              <a:p>
                <a:r>
                  <a:rPr lang="en-GB" dirty="0" err="1"/>
                  <a:t>intSolver</a:t>
                </a:r>
                <a:r>
                  <a:rPr lang="en-GB" dirty="0"/>
                  <a:t> = </a:t>
                </a:r>
                <a:r>
                  <a:rPr lang="en-GB" dirty="0" err="1"/>
                  <a:t>IntegralSolver</a:t>
                </a:r>
                <a:r>
                  <a:rPr lang="en-GB" dirty="0"/>
                  <a:t>(1e-6,100);</a:t>
                </a:r>
              </a:p>
              <a:p>
                <a:r>
                  <a:rPr lang="en-GB" dirty="0" err="1"/>
                  <a:t>intResult</a:t>
                </a:r>
                <a:r>
                  <a:rPr lang="en-GB" dirty="0"/>
                  <a:t> = </a:t>
                </a:r>
                <a:r>
                  <a:rPr lang="en-GB" dirty="0" err="1"/>
                  <a:t>intSolver.solve</a:t>
                </a:r>
                <a:r>
                  <a:rPr lang="en-GB" dirty="0"/>
                  <a:t>();</a:t>
                </a:r>
              </a:p>
              <a:p>
                <a:r>
                  <a:rPr lang="en-GB" dirty="0" err="1"/>
                  <a:t>intSolver.verify</a:t>
                </a:r>
                <a:r>
                  <a:rPr lang="en-GB" dirty="0"/>
                  <a:t>(</a:t>
                </a:r>
                <a:r>
                  <a:rPr lang="en-GB" dirty="0" err="1"/>
                  <a:t>intResult</a:t>
                </a:r>
                <a:r>
                  <a:rPr lang="en-GB" dirty="0"/>
                  <a:t>);</a:t>
                </a:r>
              </a:p>
              <a:p>
                <a:r>
                  <a:rPr lang="en-GB" dirty="0"/>
                  <a:t>Integrates </a:t>
                </a:r>
                <a14:m>
                  <m:oMath xmlns:m="http://schemas.openxmlformats.org/officeDocument/2006/math">
                    <m:r>
                      <a:rPr lang="en-GB" i="1"/>
                      <m:t>𝑓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</m:d>
                    <m:r>
                      <a:rPr lang="ar-AE"/>
                      <m:t>=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i="1"/>
                          <m:t>𝑥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from 0→3 using </a:t>
                </a:r>
                <a:r>
                  <a:rPr lang="en-GB" b="1" dirty="0"/>
                  <a:t>Trapezoidal Rule</a:t>
                </a:r>
                <a:r>
                  <a:rPr lang="en-GB" dirty="0"/>
                  <a:t>;</a:t>
                </a:r>
                <a:br>
                  <a:rPr lang="en-GB" dirty="0"/>
                </a:br>
                <a:r>
                  <a:rPr lang="en-GB" dirty="0"/>
                  <a:t>Result ≈ </a:t>
                </a:r>
                <a:r>
                  <a:rPr lang="en-GB" b="1" dirty="0"/>
                  <a:t>9.00045</a:t>
                </a:r>
                <a:r>
                  <a:rPr lang="en-GB" dirty="0"/>
                  <a:t>, Error ≈ </a:t>
                </a:r>
                <a:r>
                  <a:rPr lang="en-GB" b="1" dirty="0"/>
                  <a:t>4.5×10⁻⁴</a:t>
                </a:r>
                <a:r>
                  <a:rPr lang="en-GB" dirty="0"/>
                  <a:t>.</a:t>
                </a:r>
              </a:p>
              <a:p>
                <a:r>
                  <a:rPr lang="en-GB" b="1" dirty="0"/>
                  <a:t>Completion Message:</a:t>
                </a:r>
                <a:endParaRPr lang="en-GB" dirty="0"/>
              </a:p>
              <a:p>
                <a:r>
                  <a:rPr lang="en-GB" dirty="0" err="1"/>
                  <a:t>fprintf</a:t>
                </a:r>
                <a:r>
                  <a:rPr lang="en-GB" dirty="0"/>
                  <a:t>('\n=== All Computations Complete ===\n');</a:t>
                </a:r>
              </a:p>
              <a:p>
                <a:r>
                  <a:rPr lang="en-GB" dirty="0"/>
                  <a:t>Confirms successful execution of all numerical computations.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8A45C0-F77C-F12A-9161-56BEF56FA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1916697" cy="7029745"/>
              </a:xfrm>
              <a:prstGeom prst="rect">
                <a:avLst/>
              </a:prstGeom>
              <a:blipFill>
                <a:blip r:embed="rId2"/>
                <a:stretch>
                  <a:fillRect l="-409" t="-434" b="-434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343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C4FA2-A1A6-1021-6A20-A9DF7920A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GB" b="1" dirty="0"/>
            </a:br>
            <a:r>
              <a:rPr lang="en-GB" b="1" dirty="0"/>
              <a:t>CONCLUSION &amp; LEARNING EXPERIENCE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6983E-5727-DA02-C7F1-F350DD48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540001"/>
            <a:ext cx="10018713" cy="3251200"/>
          </a:xfrm>
        </p:spPr>
        <p:txBody>
          <a:bodyPr>
            <a:normAutofit fontScale="25000" lnSpcReduction="20000"/>
          </a:bodyPr>
          <a:lstStyle/>
          <a:p>
            <a:r>
              <a:rPr lang="en-UG" sz="7200" dirty="0"/>
              <a:t>In conclusion, this report successfully demonstrated the application of Object-Oriented Programming (OOP) in MATLAB to develop efficient numerical solvers for both differential and integral problems. Through the creation of the abstract superclass </a:t>
            </a:r>
            <a:r>
              <a:rPr lang="en-UG" sz="7200" i="1" dirty="0" err="1"/>
              <a:t>NumericalMethod</a:t>
            </a:r>
            <a:r>
              <a:rPr lang="en-UG" sz="7200" dirty="0"/>
              <a:t> and its subclasses </a:t>
            </a:r>
            <a:r>
              <a:rPr lang="en-UG" sz="7200" i="1" dirty="0" err="1"/>
              <a:t>DifferentialSolver</a:t>
            </a:r>
            <a:r>
              <a:rPr lang="en-UG" sz="7200" dirty="0"/>
              <a:t> and </a:t>
            </a:r>
            <a:r>
              <a:rPr lang="en-UG" sz="7200" i="1" dirty="0" err="1"/>
              <a:t>IntegralSolver</a:t>
            </a:r>
            <a:r>
              <a:rPr lang="en-UG" sz="7200" dirty="0"/>
              <a:t>, we implemented key concepts such as inheritance, encapsulation, and abstraction in solving real-world engineering computations.</a:t>
            </a:r>
          </a:p>
          <a:p>
            <a:r>
              <a:rPr lang="en-UG" sz="7200" dirty="0"/>
              <a:t>The </a:t>
            </a:r>
            <a:r>
              <a:rPr lang="en-UG" sz="7200" i="1" dirty="0" err="1"/>
              <a:t>DifferentialSolver</a:t>
            </a:r>
            <a:r>
              <a:rPr lang="en-UG" sz="7200" dirty="0"/>
              <a:t> applied the Newton–Raphson and Secant methods to determine roots of equations, while the </a:t>
            </a:r>
            <a:r>
              <a:rPr lang="en-UG" sz="7200" i="1" dirty="0" err="1"/>
              <a:t>IntegralSolver</a:t>
            </a:r>
            <a:r>
              <a:rPr lang="en-UG" sz="7200" dirty="0"/>
              <a:t> utilized the Trapezoidal Rule for numerical integration. The results obtained showed high levels of accuracy and consistency when verified against analytical solutions.</a:t>
            </a:r>
          </a:p>
          <a:p>
            <a:r>
              <a:rPr lang="en-UG" sz="7200" dirty="0"/>
              <a:t>This project enhanced our understanding of numerical algorithms, programming logic, and MATLAB’s computational capabilities. Working collaboratively as Group 7 improved our teamwork, research, and coding skills. We extend our sincere appreciation to our lecturer, </a:t>
            </a:r>
            <a:r>
              <a:rPr lang="en-UG" sz="7200" b="1" dirty="0"/>
              <a:t>Mr. </a:t>
            </a:r>
            <a:r>
              <a:rPr lang="en-UG" sz="7200" b="1" dirty="0" err="1"/>
              <a:t>Maseruka</a:t>
            </a:r>
            <a:r>
              <a:rPr lang="en-UG" sz="7200" b="1" dirty="0"/>
              <a:t> Benedicto</a:t>
            </a:r>
            <a:r>
              <a:rPr lang="en-UG" sz="7200" dirty="0"/>
              <a:t>, for his valuable guidance, support, and mentorship throughout this assignment.</a:t>
            </a:r>
          </a:p>
          <a:p>
            <a:endParaRPr lang="en-UG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263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133D3-F847-78C8-3182-2A37B2A73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F2F5AF-7E3E-951A-5F4E-9FAA50286D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MATLAB Official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Busitema University </a:t>
            </a:r>
            <a:r>
              <a:rPr kumimoji="0" lang="en-UG" altLang="en-UG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Programming Lecture Notes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Tutorials and Articles on:</a:t>
            </a: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Object-Oriented Programming in MATLAB</a:t>
            </a: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Newton–Raphson and Secant Methods</a:t>
            </a: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Numerical Integration using Trapezoidal Rule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Numerical Methods for Engineers</a:t>
            </a:r>
            <a: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Chapra &amp; Canale, 7th Edition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YouTube Tutorials on:</a:t>
            </a: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MATLAB Class Implementation</a:t>
            </a: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Root-Finding and Integration Techniques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 7 Collaborative Research and Discussion Notes</a:t>
            </a:r>
          </a:p>
        </p:txBody>
      </p:sp>
    </p:spTree>
    <p:extLst>
      <p:ext uri="{BB962C8B-B14F-4D97-AF65-F5344CB8AC3E}">
        <p14:creationId xmlns:p14="http://schemas.microsoft.com/office/powerpoint/2010/main" val="402985903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246</TotalTime>
  <Words>2426</Words>
  <Application>Microsoft Office PowerPoint</Application>
  <PresentationFormat>Widescreen</PresentationFormat>
  <Paragraphs>290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Cambria Math</vt:lpstr>
      <vt:lpstr>Consolas</vt:lpstr>
      <vt:lpstr>Courier New</vt:lpstr>
      <vt:lpstr>quote-cjk-patch</vt:lpstr>
      <vt:lpstr>Times New Roman</vt:lpstr>
      <vt:lpstr>Tw Cen MT</vt:lpstr>
      <vt:lpstr>Droplet</vt:lpstr>
      <vt:lpstr>IMPLEMENTATION OF OBJECT-ORIENTED NUMERICAL METHODS IN MATLAB FOR SOLVING DIFFERENTIAL AND INTEGRAL PROBLEMS</vt:lpstr>
      <vt:lpstr>GROUP 7 MEMBERS</vt:lpstr>
      <vt:lpstr>INTRODUCTION TO MATLAB</vt:lpstr>
      <vt:lpstr> ASSIGNMENT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CONCLUSION &amp; LEARNING EXPERIENCE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hopeyeya@gmail.com</dc:creator>
  <cp:lastModifiedBy>GUDOI ALLAN</cp:lastModifiedBy>
  <cp:revision>6</cp:revision>
  <dcterms:created xsi:type="dcterms:W3CDTF">2025-10-21T15:47:09Z</dcterms:created>
  <dcterms:modified xsi:type="dcterms:W3CDTF">2025-10-29T18:10:47Z</dcterms:modified>
</cp:coreProperties>
</file>